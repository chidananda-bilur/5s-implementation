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8.jpg" ContentType="image/jpeg"/>
  <Override PartName="/ppt/tags/tag3.xml" ContentType="application/vnd.openxmlformats-officedocument.presentationml.tags+xml"/>
  <Override PartName="/ppt/tags/tag4.xml" ContentType="application/vnd.openxmlformats-officedocument.presentationml.tags+xml"/>
  <Override PartName="/ppt/media/image9.jpg" ContentType="image/jpeg"/>
  <Override PartName="/ppt/media/image11.jpg" ContentType="image/jpeg"/>
  <Override PartName="/ppt/tags/tag5.xml" ContentType="application/vnd.openxmlformats-officedocument.presentationml.tags+xml"/>
  <Override PartName="/ppt/media/image12.jpg" ContentType="image/jpeg"/>
  <Override PartName="/ppt/media/image13.jpg" ContentType="image/jpeg"/>
  <Override PartName="/ppt/media/image14.jpg" ContentType="image/jpeg"/>
  <Override PartName="/ppt/tags/tag6.xml" ContentType="application/vnd.openxmlformats-officedocument.presentationml.tags+xml"/>
  <Override PartName="/ppt/tags/tag7.xml" ContentType="application/vnd.openxmlformats-officedocument.presentationml.tags+xml"/>
  <Override PartName="/ppt/media/image17.jpg" ContentType="image/jpeg"/>
  <Override PartName="/ppt/media/image18.jpg" ContentType="image/jpeg"/>
  <Override PartName="/ppt/tags/tag8.xml" ContentType="application/vnd.openxmlformats-officedocument.presentationml.tags+xml"/>
  <Override PartName="/ppt/media/image20.jpg" ContentType="image/jpeg"/>
  <Override PartName="/ppt/tags/tag9.xml" ContentType="application/vnd.openxmlformats-officedocument.presentationml.tags+xml"/>
  <Override PartName="/ppt/media/image21.jpg" ContentType="image/jpeg"/>
  <Override PartName="/ppt/tags/tag10.xml" ContentType="application/vnd.openxmlformats-officedocument.presentationml.tags+xml"/>
  <Override PartName="/ppt/media/image22.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80" r:id="rId2"/>
    <p:sldId id="281" r:id="rId3"/>
    <p:sldId id="282" r:id="rId4"/>
    <p:sldId id="283" r:id="rId5"/>
    <p:sldId id="284" r:id="rId6"/>
    <p:sldId id="285" r:id="rId7"/>
    <p:sldId id="286" r:id="rId8"/>
    <p:sldId id="287" r:id="rId9"/>
    <p:sldId id="288" r:id="rId10"/>
    <p:sldId id="289" r:id="rId1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1" autoAdjust="0"/>
    <p:restoredTop sz="93863" autoAdjust="0"/>
  </p:normalViewPr>
  <p:slideViewPr>
    <p:cSldViewPr>
      <p:cViewPr>
        <p:scale>
          <a:sx n="66" d="100"/>
          <a:sy n="66" d="100"/>
        </p:scale>
        <p:origin x="-882" y="-168"/>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3D8782-77E5-45B3-800F-01B6E878AF6D}" type="doc">
      <dgm:prSet loTypeId="urn:microsoft.com/office/officeart/2005/8/layout/list1" loCatId="list" qsTypeId="urn:microsoft.com/office/officeart/2005/8/quickstyle/3d2" qsCatId="3D" csTypeId="urn:microsoft.com/office/officeart/2005/8/colors/colorful5" csCatId="colorful" phldr="1"/>
      <dgm:spPr/>
      <dgm:t>
        <a:bodyPr/>
        <a:lstStyle/>
        <a:p>
          <a:endParaRPr lang="en-IN"/>
        </a:p>
      </dgm:t>
    </dgm:pt>
    <dgm:pt modelId="{EEA05AC1-B7E2-4242-A6EC-8EF0130CF0F7}">
      <dgm:prSet custT="1"/>
      <dgm:spPr/>
      <dgm:t>
        <a:bodyPr/>
        <a:lstStyle/>
        <a:p>
          <a:pPr rtl="0"/>
          <a:r>
            <a:rPr lang="en-US" sz="2000" b="1" dirty="0">
              <a:solidFill>
                <a:schemeClr val="tx2">
                  <a:lumMod val="75000"/>
                </a:schemeClr>
              </a:solidFill>
            </a:rPr>
            <a:t>Introduction </a:t>
          </a:r>
          <a:r>
            <a:rPr lang="kn-IN" sz="2000" b="1" i="1" dirty="0">
              <a:solidFill>
                <a:schemeClr val="tx2">
                  <a:lumMod val="75000"/>
                </a:schemeClr>
              </a:solidFill>
            </a:rPr>
            <a:t>ಪರಿಚಯ</a:t>
          </a:r>
          <a:endParaRPr lang="en-IN" sz="2000" b="1" i="1" dirty="0">
            <a:solidFill>
              <a:schemeClr val="tx2">
                <a:lumMod val="75000"/>
              </a:schemeClr>
            </a:solidFill>
          </a:endParaRPr>
        </a:p>
      </dgm:t>
    </dgm:pt>
    <dgm:pt modelId="{61EABC35-8955-4DDA-A107-9D658F8D1985}" type="parTrans" cxnId="{38C2BB26-0882-4552-8FD6-9279AF07D0E6}">
      <dgm:prSet/>
      <dgm:spPr/>
      <dgm:t>
        <a:bodyPr/>
        <a:lstStyle/>
        <a:p>
          <a:endParaRPr lang="en-IN" sz="3200" b="1"/>
        </a:p>
      </dgm:t>
    </dgm:pt>
    <dgm:pt modelId="{AAB92939-59E2-45EB-8B9C-70A5CBF1AEED}" type="sibTrans" cxnId="{38C2BB26-0882-4552-8FD6-9279AF07D0E6}">
      <dgm:prSet/>
      <dgm:spPr/>
      <dgm:t>
        <a:bodyPr/>
        <a:lstStyle/>
        <a:p>
          <a:endParaRPr lang="en-IN" sz="3200" b="1"/>
        </a:p>
      </dgm:t>
    </dgm:pt>
    <dgm:pt modelId="{84603A94-B8A2-40D8-996D-9599C592525B}">
      <dgm:prSet custT="1"/>
      <dgm:spPr/>
      <dgm:t>
        <a:bodyPr/>
        <a:lstStyle/>
        <a:p>
          <a:pPr rtl="0"/>
          <a:r>
            <a:rPr lang="en-US" sz="2000" b="1" dirty="0">
              <a:solidFill>
                <a:schemeClr val="tx2">
                  <a:lumMod val="75000"/>
                </a:schemeClr>
              </a:solidFill>
            </a:rPr>
            <a:t>Example </a:t>
          </a:r>
          <a:r>
            <a:rPr lang="kn-IN" sz="1800" b="1" i="1" dirty="0">
              <a:solidFill>
                <a:schemeClr val="tx2">
                  <a:lumMod val="75000"/>
                </a:schemeClr>
              </a:solidFill>
            </a:rPr>
            <a:t>ಉದಾಹರಣೆ</a:t>
          </a:r>
          <a:endParaRPr lang="en-IN" sz="1800" b="1" i="1" dirty="0">
            <a:solidFill>
              <a:schemeClr val="tx2">
                <a:lumMod val="75000"/>
              </a:schemeClr>
            </a:solidFill>
          </a:endParaRPr>
        </a:p>
      </dgm:t>
    </dgm:pt>
    <dgm:pt modelId="{C90EDE7E-6817-4152-9648-91DB345B3BE6}" type="parTrans" cxnId="{5A25F1D9-A722-4C2E-9568-24A36EC0B322}">
      <dgm:prSet/>
      <dgm:spPr/>
      <dgm:t>
        <a:bodyPr/>
        <a:lstStyle/>
        <a:p>
          <a:endParaRPr lang="en-IN" sz="3200" b="1"/>
        </a:p>
      </dgm:t>
    </dgm:pt>
    <dgm:pt modelId="{EBE88795-A87A-47AD-95A6-11C9116D83A7}" type="sibTrans" cxnId="{5A25F1D9-A722-4C2E-9568-24A36EC0B322}">
      <dgm:prSet/>
      <dgm:spPr/>
      <dgm:t>
        <a:bodyPr/>
        <a:lstStyle/>
        <a:p>
          <a:endParaRPr lang="en-IN" sz="3200" b="1"/>
        </a:p>
      </dgm:t>
    </dgm:pt>
    <dgm:pt modelId="{FBF7D608-BCD9-4CE4-8177-3A883A596468}">
      <dgm:prSet custT="1"/>
      <dgm:spPr/>
      <dgm:t>
        <a:bodyPr/>
        <a:lstStyle/>
        <a:p>
          <a:pPr rtl="0"/>
          <a:r>
            <a:rPr lang="en-US" sz="2000" b="1" dirty="0">
              <a:solidFill>
                <a:schemeClr val="tx2">
                  <a:lumMod val="75000"/>
                </a:schemeClr>
              </a:solidFill>
            </a:rPr>
            <a:t>Steps for 5s </a:t>
          </a:r>
          <a:r>
            <a:rPr lang="kn-IN" sz="2000" b="1" i="1" dirty="0">
              <a:solidFill>
                <a:schemeClr val="tx2">
                  <a:lumMod val="75000"/>
                </a:schemeClr>
              </a:solidFill>
            </a:rPr>
            <a:t>5 ಸೆ.ಗಾಗಿ ಹಂತಗಳು</a:t>
          </a:r>
          <a:endParaRPr lang="en-IN" sz="2000" b="1" i="1" dirty="0">
            <a:solidFill>
              <a:schemeClr val="tx2">
                <a:lumMod val="75000"/>
              </a:schemeClr>
            </a:solidFill>
          </a:endParaRPr>
        </a:p>
      </dgm:t>
    </dgm:pt>
    <dgm:pt modelId="{3AD6F06E-1334-4D34-A333-846E0C943121}" type="parTrans" cxnId="{57FFA4DD-145F-4816-917F-A8B3D083FFC5}">
      <dgm:prSet/>
      <dgm:spPr/>
      <dgm:t>
        <a:bodyPr/>
        <a:lstStyle/>
        <a:p>
          <a:endParaRPr lang="en-IN" sz="3200" b="1"/>
        </a:p>
      </dgm:t>
    </dgm:pt>
    <dgm:pt modelId="{FE2CDD5A-0CA0-40DB-A7C1-B1B232CD07BA}" type="sibTrans" cxnId="{57FFA4DD-145F-4816-917F-A8B3D083FFC5}">
      <dgm:prSet/>
      <dgm:spPr/>
      <dgm:t>
        <a:bodyPr/>
        <a:lstStyle/>
        <a:p>
          <a:endParaRPr lang="en-IN" sz="3200" b="1"/>
        </a:p>
      </dgm:t>
    </dgm:pt>
    <dgm:pt modelId="{C51570BF-B143-4885-AAFA-F155AEC080A8}">
      <dgm:prSet custT="1"/>
      <dgm:spPr/>
      <dgm:t>
        <a:bodyPr/>
        <a:lstStyle/>
        <a:p>
          <a:pPr rtl="0"/>
          <a:r>
            <a:rPr lang="en-US" sz="2000" b="1" dirty="0"/>
            <a:t>Sorting </a:t>
          </a:r>
          <a:r>
            <a:rPr lang="kn-IN" sz="1800" b="1" i="1" dirty="0">
              <a:solidFill>
                <a:schemeClr val="tx2"/>
              </a:solidFill>
            </a:rPr>
            <a:t>ವಿಂಗಡಿಸಿ</a:t>
          </a:r>
          <a:endParaRPr lang="en-IN" sz="1800" b="1" i="1" dirty="0">
            <a:solidFill>
              <a:schemeClr val="tx2"/>
            </a:solidFill>
          </a:endParaRPr>
        </a:p>
      </dgm:t>
    </dgm:pt>
    <dgm:pt modelId="{5FD80305-9222-4BA2-83EB-1CA7CDF0E29F}" type="parTrans" cxnId="{976B5DF9-75DE-4B95-9441-3F1CE6E3737B}">
      <dgm:prSet/>
      <dgm:spPr/>
      <dgm:t>
        <a:bodyPr/>
        <a:lstStyle/>
        <a:p>
          <a:endParaRPr lang="en-IN" sz="3200" b="1"/>
        </a:p>
      </dgm:t>
    </dgm:pt>
    <dgm:pt modelId="{F26D8F4C-C88B-45C9-B947-589C5505C5C9}" type="sibTrans" cxnId="{976B5DF9-75DE-4B95-9441-3F1CE6E3737B}">
      <dgm:prSet/>
      <dgm:spPr/>
      <dgm:t>
        <a:bodyPr/>
        <a:lstStyle/>
        <a:p>
          <a:endParaRPr lang="en-IN" sz="3200" b="1"/>
        </a:p>
      </dgm:t>
    </dgm:pt>
    <dgm:pt modelId="{B9B44E99-408D-4549-94AB-D4075D5BE4EF}">
      <dgm:prSet custT="1"/>
      <dgm:spPr/>
      <dgm:t>
        <a:bodyPr/>
        <a:lstStyle/>
        <a:p>
          <a:pPr rtl="0"/>
          <a:r>
            <a:rPr lang="en-US" sz="2000" b="1" dirty="0"/>
            <a:t>Set in order </a:t>
          </a:r>
          <a:r>
            <a:rPr lang="kn-IN" sz="1800" b="1" i="1" dirty="0">
              <a:solidFill>
                <a:schemeClr val="tx2"/>
              </a:solidFill>
            </a:rPr>
            <a:t>ಕ್ರಮದಲ್ಲಿ ಹೊಂದಿಸಿ</a:t>
          </a:r>
          <a:endParaRPr lang="en-IN" sz="1800" b="1" i="1" dirty="0">
            <a:solidFill>
              <a:schemeClr val="tx2"/>
            </a:solidFill>
          </a:endParaRPr>
        </a:p>
      </dgm:t>
    </dgm:pt>
    <dgm:pt modelId="{5B22838C-E4AA-40BF-9C1D-305177FD5E63}" type="parTrans" cxnId="{EE636DA8-BA98-4A5C-B1FB-EFFF0A1FB4B0}">
      <dgm:prSet/>
      <dgm:spPr/>
      <dgm:t>
        <a:bodyPr/>
        <a:lstStyle/>
        <a:p>
          <a:endParaRPr lang="en-IN" sz="3200" b="1"/>
        </a:p>
      </dgm:t>
    </dgm:pt>
    <dgm:pt modelId="{90232175-8DC5-4EBF-85AF-A0A36C966299}" type="sibTrans" cxnId="{EE636DA8-BA98-4A5C-B1FB-EFFF0A1FB4B0}">
      <dgm:prSet/>
      <dgm:spPr/>
      <dgm:t>
        <a:bodyPr/>
        <a:lstStyle/>
        <a:p>
          <a:endParaRPr lang="en-IN" sz="3200" b="1"/>
        </a:p>
      </dgm:t>
    </dgm:pt>
    <dgm:pt modelId="{2E5FDB77-A4F1-4F8B-8D5E-A2C56563AFD2}">
      <dgm:prSet custT="1"/>
      <dgm:spPr/>
      <dgm:t>
        <a:bodyPr/>
        <a:lstStyle/>
        <a:p>
          <a:pPr rtl="0"/>
          <a:r>
            <a:rPr lang="en-US" sz="2000" b="1" dirty="0"/>
            <a:t>Shine </a:t>
          </a:r>
          <a:r>
            <a:rPr lang="kn-IN" sz="1800" b="1" i="1" dirty="0">
              <a:solidFill>
                <a:schemeClr val="tx2"/>
              </a:solidFill>
            </a:rPr>
            <a:t>ಹೊಳಪು</a:t>
          </a:r>
          <a:r>
            <a:rPr lang="en-US" sz="1800" b="1" i="1" dirty="0"/>
            <a:t> </a:t>
          </a:r>
          <a:r>
            <a:rPr lang="en-US" sz="2000" b="1" dirty="0"/>
            <a:t>	</a:t>
          </a:r>
          <a:endParaRPr lang="en-IN" sz="2000" b="1" dirty="0"/>
        </a:p>
      </dgm:t>
    </dgm:pt>
    <dgm:pt modelId="{4D5FF1D3-2395-4750-913A-6AAE1FE2CC67}" type="parTrans" cxnId="{905D97FE-FA95-42D8-BCC7-0BDB5522B7EE}">
      <dgm:prSet/>
      <dgm:spPr/>
      <dgm:t>
        <a:bodyPr/>
        <a:lstStyle/>
        <a:p>
          <a:endParaRPr lang="en-IN" sz="3200" b="1"/>
        </a:p>
      </dgm:t>
    </dgm:pt>
    <dgm:pt modelId="{12F424BA-7626-43EC-BDFC-3DB527179498}" type="sibTrans" cxnId="{905D97FE-FA95-42D8-BCC7-0BDB5522B7EE}">
      <dgm:prSet/>
      <dgm:spPr/>
      <dgm:t>
        <a:bodyPr/>
        <a:lstStyle/>
        <a:p>
          <a:endParaRPr lang="en-IN" sz="3200" b="1"/>
        </a:p>
      </dgm:t>
    </dgm:pt>
    <dgm:pt modelId="{71B20A16-CF15-4CC9-8566-F8CBD6F71FD3}">
      <dgm:prSet custT="1"/>
      <dgm:spPr/>
      <dgm:t>
        <a:bodyPr/>
        <a:lstStyle/>
        <a:p>
          <a:pPr rtl="0"/>
          <a:r>
            <a:rPr lang="en-US" sz="2000" b="1" dirty="0"/>
            <a:t>Standardization </a:t>
          </a:r>
          <a:r>
            <a:rPr lang="kn-IN" sz="1800" b="1" i="1" dirty="0">
              <a:solidFill>
                <a:schemeClr val="tx2"/>
              </a:solidFill>
            </a:rPr>
            <a:t>ಪ್ರಮಾಣೀಕರಿಸು</a:t>
          </a:r>
          <a:endParaRPr lang="en-IN" sz="1800" b="1" i="1" dirty="0"/>
        </a:p>
      </dgm:t>
    </dgm:pt>
    <dgm:pt modelId="{8E2A3EB7-38BA-4A7A-A939-BA95893C2382}" type="parTrans" cxnId="{84E17813-22FE-4994-8507-15A14E7E0CA3}">
      <dgm:prSet/>
      <dgm:spPr/>
      <dgm:t>
        <a:bodyPr/>
        <a:lstStyle/>
        <a:p>
          <a:endParaRPr lang="en-IN" sz="3200" b="1"/>
        </a:p>
      </dgm:t>
    </dgm:pt>
    <dgm:pt modelId="{64FC97A5-C0F5-4309-828D-83B0D31FF4F5}" type="sibTrans" cxnId="{84E17813-22FE-4994-8507-15A14E7E0CA3}">
      <dgm:prSet/>
      <dgm:spPr/>
      <dgm:t>
        <a:bodyPr/>
        <a:lstStyle/>
        <a:p>
          <a:endParaRPr lang="en-IN" sz="3200" b="1"/>
        </a:p>
      </dgm:t>
    </dgm:pt>
    <dgm:pt modelId="{CD1223CB-0FFE-4FA4-B17E-7CC3459CE019}">
      <dgm:prSet custT="1"/>
      <dgm:spPr/>
      <dgm:t>
        <a:bodyPr/>
        <a:lstStyle/>
        <a:p>
          <a:pPr rtl="0"/>
          <a:r>
            <a:rPr lang="en-US" sz="2000" b="1" dirty="0"/>
            <a:t>Sustain </a:t>
          </a:r>
          <a:r>
            <a:rPr lang="kn-IN" sz="1800" b="1" i="1" dirty="0">
              <a:solidFill>
                <a:schemeClr val="tx2"/>
              </a:solidFill>
            </a:rPr>
            <a:t>ನಿರಂತರವಾಗಿ ಉಳಿಸಿಕೊಳ್ಳು</a:t>
          </a:r>
          <a:r>
            <a:rPr lang="en-US" sz="1800" b="1" i="1" dirty="0"/>
            <a:t> </a:t>
          </a:r>
          <a:endParaRPr lang="en-IN" sz="2000" b="1" i="1" dirty="0"/>
        </a:p>
      </dgm:t>
    </dgm:pt>
    <dgm:pt modelId="{32D871D6-37B3-416E-9B4A-5F0ABB0FCDFE}" type="parTrans" cxnId="{40F51842-E454-4584-BCF7-D866B6FB702A}">
      <dgm:prSet/>
      <dgm:spPr/>
      <dgm:t>
        <a:bodyPr/>
        <a:lstStyle/>
        <a:p>
          <a:endParaRPr lang="en-IN" sz="3200" b="1"/>
        </a:p>
      </dgm:t>
    </dgm:pt>
    <dgm:pt modelId="{DA1C66CF-82DC-488F-B1A3-4D96A2344D6C}" type="sibTrans" cxnId="{40F51842-E454-4584-BCF7-D866B6FB702A}">
      <dgm:prSet/>
      <dgm:spPr/>
      <dgm:t>
        <a:bodyPr/>
        <a:lstStyle/>
        <a:p>
          <a:endParaRPr lang="en-IN" sz="3200" b="1"/>
        </a:p>
      </dgm:t>
    </dgm:pt>
    <dgm:pt modelId="{8D2897DC-BFDB-419E-BDD1-C29173FB8A18}">
      <dgm:prSet custT="1"/>
      <dgm:spPr/>
      <dgm:t>
        <a:bodyPr/>
        <a:lstStyle/>
        <a:p>
          <a:pPr rtl="0"/>
          <a:r>
            <a:rPr lang="en-US" sz="2000" b="1" dirty="0"/>
            <a:t>Advantages of 5s </a:t>
          </a:r>
          <a:r>
            <a:rPr lang="kn-IN" sz="2000" dirty="0"/>
            <a:t>5 ರ ಪ್ರಯೋಜನಗಳು</a:t>
          </a:r>
          <a:endParaRPr lang="en-IN" sz="2000" b="1" dirty="0"/>
        </a:p>
      </dgm:t>
    </dgm:pt>
    <dgm:pt modelId="{08880DBB-838A-4AAD-A199-14BD6F6F8FA5}" type="parTrans" cxnId="{3C85C4D7-808A-47CC-9604-F3167F974920}">
      <dgm:prSet/>
      <dgm:spPr/>
      <dgm:t>
        <a:bodyPr/>
        <a:lstStyle/>
        <a:p>
          <a:endParaRPr lang="en-IN" sz="3200" b="1"/>
        </a:p>
      </dgm:t>
    </dgm:pt>
    <dgm:pt modelId="{C7189540-3AFB-46F5-BC5B-3D5A072B9544}" type="sibTrans" cxnId="{3C85C4D7-808A-47CC-9604-F3167F974920}">
      <dgm:prSet/>
      <dgm:spPr/>
      <dgm:t>
        <a:bodyPr/>
        <a:lstStyle/>
        <a:p>
          <a:endParaRPr lang="en-IN" sz="3200" b="1"/>
        </a:p>
      </dgm:t>
    </dgm:pt>
    <dgm:pt modelId="{14B8B491-B274-4620-8D1F-17E24E8ED466}" type="pres">
      <dgm:prSet presAssocID="{C13D8782-77E5-45B3-800F-01B6E878AF6D}" presName="linear" presStyleCnt="0">
        <dgm:presLayoutVars>
          <dgm:dir/>
          <dgm:animLvl val="lvl"/>
          <dgm:resizeHandles val="exact"/>
        </dgm:presLayoutVars>
      </dgm:prSet>
      <dgm:spPr/>
    </dgm:pt>
    <dgm:pt modelId="{66EFDF10-BFB2-438E-96FB-0E1BE536D18D}" type="pres">
      <dgm:prSet presAssocID="{EEA05AC1-B7E2-4242-A6EC-8EF0130CF0F7}" presName="parentLin" presStyleCnt="0"/>
      <dgm:spPr/>
    </dgm:pt>
    <dgm:pt modelId="{2208B4CF-A97A-46A9-B0F0-3DCDC0441A0B}" type="pres">
      <dgm:prSet presAssocID="{EEA05AC1-B7E2-4242-A6EC-8EF0130CF0F7}" presName="parentLeftMargin" presStyleLbl="node1" presStyleIdx="0" presStyleCnt="4"/>
      <dgm:spPr/>
    </dgm:pt>
    <dgm:pt modelId="{01BCC27B-F125-4790-83BA-DA9A30D60D62}" type="pres">
      <dgm:prSet presAssocID="{EEA05AC1-B7E2-4242-A6EC-8EF0130CF0F7}" presName="parentText" presStyleLbl="node1" presStyleIdx="0" presStyleCnt="4" custScaleX="117143" custScaleY="152058">
        <dgm:presLayoutVars>
          <dgm:chMax val="0"/>
          <dgm:bulletEnabled val="1"/>
        </dgm:presLayoutVars>
      </dgm:prSet>
      <dgm:spPr/>
    </dgm:pt>
    <dgm:pt modelId="{1B15DF3E-1D0B-461A-8B5C-C40A2D5737EC}" type="pres">
      <dgm:prSet presAssocID="{EEA05AC1-B7E2-4242-A6EC-8EF0130CF0F7}" presName="negativeSpace" presStyleCnt="0"/>
      <dgm:spPr/>
    </dgm:pt>
    <dgm:pt modelId="{0B6A186D-9FD7-4525-A959-B29D56396660}" type="pres">
      <dgm:prSet presAssocID="{EEA05AC1-B7E2-4242-A6EC-8EF0130CF0F7}" presName="childText" presStyleLbl="conFgAcc1" presStyleIdx="0" presStyleCnt="4">
        <dgm:presLayoutVars>
          <dgm:bulletEnabled val="1"/>
        </dgm:presLayoutVars>
      </dgm:prSet>
      <dgm:spPr/>
    </dgm:pt>
    <dgm:pt modelId="{89737CD7-0018-4CA3-9AA4-4F47B5D01B01}" type="pres">
      <dgm:prSet presAssocID="{AAB92939-59E2-45EB-8B9C-70A5CBF1AEED}" presName="spaceBetweenRectangles" presStyleCnt="0"/>
      <dgm:spPr/>
    </dgm:pt>
    <dgm:pt modelId="{06989AEA-59E8-4077-A16F-76CE6E504598}" type="pres">
      <dgm:prSet presAssocID="{84603A94-B8A2-40D8-996D-9599C592525B}" presName="parentLin" presStyleCnt="0"/>
      <dgm:spPr/>
    </dgm:pt>
    <dgm:pt modelId="{A85A1436-07B8-4C1D-87D0-8BA1BEB986C9}" type="pres">
      <dgm:prSet presAssocID="{84603A94-B8A2-40D8-996D-9599C592525B}" presName="parentLeftMargin" presStyleLbl="node1" presStyleIdx="0" presStyleCnt="4"/>
      <dgm:spPr/>
    </dgm:pt>
    <dgm:pt modelId="{6F13D110-4289-48E7-A19D-5EBE6E3243ED}" type="pres">
      <dgm:prSet presAssocID="{84603A94-B8A2-40D8-996D-9599C592525B}" presName="parentText" presStyleLbl="node1" presStyleIdx="1" presStyleCnt="4" custScaleX="117143" custScaleY="152058">
        <dgm:presLayoutVars>
          <dgm:chMax val="0"/>
          <dgm:bulletEnabled val="1"/>
        </dgm:presLayoutVars>
      </dgm:prSet>
      <dgm:spPr/>
    </dgm:pt>
    <dgm:pt modelId="{72960C7A-A4D6-45DB-90DE-55573F2391B4}" type="pres">
      <dgm:prSet presAssocID="{84603A94-B8A2-40D8-996D-9599C592525B}" presName="negativeSpace" presStyleCnt="0"/>
      <dgm:spPr/>
    </dgm:pt>
    <dgm:pt modelId="{DDBDA85C-BD4D-4D6D-9F5C-4206F29B98F8}" type="pres">
      <dgm:prSet presAssocID="{84603A94-B8A2-40D8-996D-9599C592525B}" presName="childText" presStyleLbl="conFgAcc1" presStyleIdx="1" presStyleCnt="4">
        <dgm:presLayoutVars>
          <dgm:bulletEnabled val="1"/>
        </dgm:presLayoutVars>
      </dgm:prSet>
      <dgm:spPr/>
    </dgm:pt>
    <dgm:pt modelId="{A4413EAD-FB1B-4EEA-9E1D-B90E4245CBA4}" type="pres">
      <dgm:prSet presAssocID="{EBE88795-A87A-47AD-95A6-11C9116D83A7}" presName="spaceBetweenRectangles" presStyleCnt="0"/>
      <dgm:spPr/>
    </dgm:pt>
    <dgm:pt modelId="{F85C3739-20FF-4BA8-A20C-99175E81B2A2}" type="pres">
      <dgm:prSet presAssocID="{FBF7D608-BCD9-4CE4-8177-3A883A596468}" presName="parentLin" presStyleCnt="0"/>
      <dgm:spPr/>
    </dgm:pt>
    <dgm:pt modelId="{EE07E03E-1CFD-43F6-B7DB-E85D1A94B106}" type="pres">
      <dgm:prSet presAssocID="{FBF7D608-BCD9-4CE4-8177-3A883A596468}" presName="parentLeftMargin" presStyleLbl="node1" presStyleIdx="1" presStyleCnt="4"/>
      <dgm:spPr/>
    </dgm:pt>
    <dgm:pt modelId="{3CDF665D-A716-4ED1-8FB9-0E004A5CB5E5}" type="pres">
      <dgm:prSet presAssocID="{FBF7D608-BCD9-4CE4-8177-3A883A596468}" presName="parentText" presStyleLbl="node1" presStyleIdx="2" presStyleCnt="4" custScaleX="117143" custScaleY="152058">
        <dgm:presLayoutVars>
          <dgm:chMax val="0"/>
          <dgm:bulletEnabled val="1"/>
        </dgm:presLayoutVars>
      </dgm:prSet>
      <dgm:spPr/>
    </dgm:pt>
    <dgm:pt modelId="{D63DFF57-8D75-4291-B776-C6D650068238}" type="pres">
      <dgm:prSet presAssocID="{FBF7D608-BCD9-4CE4-8177-3A883A596468}" presName="negativeSpace" presStyleCnt="0"/>
      <dgm:spPr/>
    </dgm:pt>
    <dgm:pt modelId="{84ABF97E-52BB-4D2B-B23C-2AF82DEF6198}" type="pres">
      <dgm:prSet presAssocID="{FBF7D608-BCD9-4CE4-8177-3A883A596468}" presName="childText" presStyleLbl="conFgAcc1" presStyleIdx="2" presStyleCnt="4">
        <dgm:presLayoutVars>
          <dgm:bulletEnabled val="1"/>
        </dgm:presLayoutVars>
      </dgm:prSet>
      <dgm:spPr/>
    </dgm:pt>
    <dgm:pt modelId="{B1335CC1-08B9-4E9D-B186-B5424417C5A7}" type="pres">
      <dgm:prSet presAssocID="{FE2CDD5A-0CA0-40DB-A7C1-B1B232CD07BA}" presName="spaceBetweenRectangles" presStyleCnt="0"/>
      <dgm:spPr/>
    </dgm:pt>
    <dgm:pt modelId="{6356F0AE-70B0-4DB5-8166-E27BC885AD5F}" type="pres">
      <dgm:prSet presAssocID="{8D2897DC-BFDB-419E-BDD1-C29173FB8A18}" presName="parentLin" presStyleCnt="0"/>
      <dgm:spPr/>
    </dgm:pt>
    <dgm:pt modelId="{3B1F9E54-CD7C-4030-9790-10F8BBFBCDF1}" type="pres">
      <dgm:prSet presAssocID="{8D2897DC-BFDB-419E-BDD1-C29173FB8A18}" presName="parentLeftMargin" presStyleLbl="node1" presStyleIdx="2" presStyleCnt="4"/>
      <dgm:spPr/>
    </dgm:pt>
    <dgm:pt modelId="{A7D0C229-7D2C-4408-807F-3B3FFEDFB35E}" type="pres">
      <dgm:prSet presAssocID="{8D2897DC-BFDB-419E-BDD1-C29173FB8A18}" presName="parentText" presStyleLbl="node1" presStyleIdx="3" presStyleCnt="4" custScaleX="117143" custScaleY="152058">
        <dgm:presLayoutVars>
          <dgm:chMax val="0"/>
          <dgm:bulletEnabled val="1"/>
        </dgm:presLayoutVars>
      </dgm:prSet>
      <dgm:spPr/>
    </dgm:pt>
    <dgm:pt modelId="{C83CBB1C-1588-4E6E-84D1-63C2E5C10751}" type="pres">
      <dgm:prSet presAssocID="{8D2897DC-BFDB-419E-BDD1-C29173FB8A18}" presName="negativeSpace" presStyleCnt="0"/>
      <dgm:spPr/>
    </dgm:pt>
    <dgm:pt modelId="{0E9AC2D6-E032-4881-8470-AA4CC936F98A}" type="pres">
      <dgm:prSet presAssocID="{8D2897DC-BFDB-419E-BDD1-C29173FB8A18}" presName="childText" presStyleLbl="conFgAcc1" presStyleIdx="3" presStyleCnt="4">
        <dgm:presLayoutVars>
          <dgm:bulletEnabled val="1"/>
        </dgm:presLayoutVars>
      </dgm:prSet>
      <dgm:spPr/>
    </dgm:pt>
  </dgm:ptLst>
  <dgm:cxnLst>
    <dgm:cxn modelId="{EDAD1804-80B6-4948-8AA7-5481E6FBCB44}" type="presOf" srcId="{C51570BF-B143-4885-AAFA-F155AEC080A8}" destId="{84ABF97E-52BB-4D2B-B23C-2AF82DEF6198}" srcOrd="0" destOrd="0" presId="urn:microsoft.com/office/officeart/2005/8/layout/list1"/>
    <dgm:cxn modelId="{3E4E180E-C6D5-40C8-95DA-377FA4B17AAF}" type="presOf" srcId="{84603A94-B8A2-40D8-996D-9599C592525B}" destId="{A85A1436-07B8-4C1D-87D0-8BA1BEB986C9}" srcOrd="0" destOrd="0" presId="urn:microsoft.com/office/officeart/2005/8/layout/list1"/>
    <dgm:cxn modelId="{84E17813-22FE-4994-8507-15A14E7E0CA3}" srcId="{FBF7D608-BCD9-4CE4-8177-3A883A596468}" destId="{71B20A16-CF15-4CC9-8566-F8CBD6F71FD3}" srcOrd="3" destOrd="0" parTransId="{8E2A3EB7-38BA-4A7A-A939-BA95893C2382}" sibTransId="{64FC97A5-C0F5-4309-828D-83B0D31FF4F5}"/>
    <dgm:cxn modelId="{38C2BB26-0882-4552-8FD6-9279AF07D0E6}" srcId="{C13D8782-77E5-45B3-800F-01B6E878AF6D}" destId="{EEA05AC1-B7E2-4242-A6EC-8EF0130CF0F7}" srcOrd="0" destOrd="0" parTransId="{61EABC35-8955-4DDA-A107-9D658F8D1985}" sibTransId="{AAB92939-59E2-45EB-8B9C-70A5CBF1AEED}"/>
    <dgm:cxn modelId="{40F51842-E454-4584-BCF7-D866B6FB702A}" srcId="{FBF7D608-BCD9-4CE4-8177-3A883A596468}" destId="{CD1223CB-0FFE-4FA4-B17E-7CC3459CE019}" srcOrd="4" destOrd="0" parTransId="{32D871D6-37B3-416E-9B4A-5F0ABB0FCDFE}" sibTransId="{DA1C66CF-82DC-488F-B1A3-4D96A2344D6C}"/>
    <dgm:cxn modelId="{3B6A0C63-9040-46D8-B7E7-BAC2F82055FF}" type="presOf" srcId="{EEA05AC1-B7E2-4242-A6EC-8EF0130CF0F7}" destId="{01BCC27B-F125-4790-83BA-DA9A30D60D62}" srcOrd="1" destOrd="0" presId="urn:microsoft.com/office/officeart/2005/8/layout/list1"/>
    <dgm:cxn modelId="{05983D64-F15E-4C94-B623-4CB454C059DB}" type="presOf" srcId="{71B20A16-CF15-4CC9-8566-F8CBD6F71FD3}" destId="{84ABF97E-52BB-4D2B-B23C-2AF82DEF6198}" srcOrd="0" destOrd="3" presId="urn:microsoft.com/office/officeart/2005/8/layout/list1"/>
    <dgm:cxn modelId="{A1D12546-E8EB-4014-8D1D-00ACC505EB88}" type="presOf" srcId="{FBF7D608-BCD9-4CE4-8177-3A883A596468}" destId="{EE07E03E-1CFD-43F6-B7DB-E85D1A94B106}" srcOrd="0" destOrd="0" presId="urn:microsoft.com/office/officeart/2005/8/layout/list1"/>
    <dgm:cxn modelId="{29B08285-45A9-4B8F-BC9B-EDAE654A90C1}" type="presOf" srcId="{C13D8782-77E5-45B3-800F-01B6E878AF6D}" destId="{14B8B491-B274-4620-8D1F-17E24E8ED466}" srcOrd="0" destOrd="0" presId="urn:microsoft.com/office/officeart/2005/8/layout/list1"/>
    <dgm:cxn modelId="{AC7ACA9A-93DE-4812-B9C4-5BAF46FA43BE}" type="presOf" srcId="{B9B44E99-408D-4549-94AB-D4075D5BE4EF}" destId="{84ABF97E-52BB-4D2B-B23C-2AF82DEF6198}" srcOrd="0" destOrd="1" presId="urn:microsoft.com/office/officeart/2005/8/layout/list1"/>
    <dgm:cxn modelId="{E843D29F-250C-43FD-8D59-262F2424E8AC}" type="presOf" srcId="{CD1223CB-0FFE-4FA4-B17E-7CC3459CE019}" destId="{84ABF97E-52BB-4D2B-B23C-2AF82DEF6198}" srcOrd="0" destOrd="4" presId="urn:microsoft.com/office/officeart/2005/8/layout/list1"/>
    <dgm:cxn modelId="{0489CEA2-16EB-450E-9693-AA2216062D57}" type="presOf" srcId="{2E5FDB77-A4F1-4F8B-8D5E-A2C56563AFD2}" destId="{84ABF97E-52BB-4D2B-B23C-2AF82DEF6198}" srcOrd="0" destOrd="2" presId="urn:microsoft.com/office/officeart/2005/8/layout/list1"/>
    <dgm:cxn modelId="{EE636DA8-BA98-4A5C-B1FB-EFFF0A1FB4B0}" srcId="{FBF7D608-BCD9-4CE4-8177-3A883A596468}" destId="{B9B44E99-408D-4549-94AB-D4075D5BE4EF}" srcOrd="1" destOrd="0" parTransId="{5B22838C-E4AA-40BF-9C1D-305177FD5E63}" sibTransId="{90232175-8DC5-4EBF-85AF-A0A36C966299}"/>
    <dgm:cxn modelId="{37BBC3AA-C4F2-4E1B-A70D-402A8DE23D7A}" type="presOf" srcId="{8D2897DC-BFDB-419E-BDD1-C29173FB8A18}" destId="{A7D0C229-7D2C-4408-807F-3B3FFEDFB35E}" srcOrd="1" destOrd="0" presId="urn:microsoft.com/office/officeart/2005/8/layout/list1"/>
    <dgm:cxn modelId="{BECB02C0-2BF6-4005-8179-147DFBE20382}" type="presOf" srcId="{FBF7D608-BCD9-4CE4-8177-3A883A596468}" destId="{3CDF665D-A716-4ED1-8FB9-0E004A5CB5E5}" srcOrd="1" destOrd="0" presId="urn:microsoft.com/office/officeart/2005/8/layout/list1"/>
    <dgm:cxn modelId="{BAFF9DC5-4A20-4EA2-8737-B5DC2F312F44}" type="presOf" srcId="{8D2897DC-BFDB-419E-BDD1-C29173FB8A18}" destId="{3B1F9E54-CD7C-4030-9790-10F8BBFBCDF1}" srcOrd="0" destOrd="0" presId="urn:microsoft.com/office/officeart/2005/8/layout/list1"/>
    <dgm:cxn modelId="{3C85C4D7-808A-47CC-9604-F3167F974920}" srcId="{C13D8782-77E5-45B3-800F-01B6E878AF6D}" destId="{8D2897DC-BFDB-419E-BDD1-C29173FB8A18}" srcOrd="3" destOrd="0" parTransId="{08880DBB-838A-4AAD-A199-14BD6F6F8FA5}" sibTransId="{C7189540-3AFB-46F5-BC5B-3D5A072B9544}"/>
    <dgm:cxn modelId="{97BB53D8-3E64-448A-80DC-FE4787BDF546}" type="presOf" srcId="{84603A94-B8A2-40D8-996D-9599C592525B}" destId="{6F13D110-4289-48E7-A19D-5EBE6E3243ED}" srcOrd="1" destOrd="0" presId="urn:microsoft.com/office/officeart/2005/8/layout/list1"/>
    <dgm:cxn modelId="{5A25F1D9-A722-4C2E-9568-24A36EC0B322}" srcId="{C13D8782-77E5-45B3-800F-01B6E878AF6D}" destId="{84603A94-B8A2-40D8-996D-9599C592525B}" srcOrd="1" destOrd="0" parTransId="{C90EDE7E-6817-4152-9648-91DB345B3BE6}" sibTransId="{EBE88795-A87A-47AD-95A6-11C9116D83A7}"/>
    <dgm:cxn modelId="{57FFA4DD-145F-4816-917F-A8B3D083FFC5}" srcId="{C13D8782-77E5-45B3-800F-01B6E878AF6D}" destId="{FBF7D608-BCD9-4CE4-8177-3A883A596468}" srcOrd="2" destOrd="0" parTransId="{3AD6F06E-1334-4D34-A333-846E0C943121}" sibTransId="{FE2CDD5A-0CA0-40DB-A7C1-B1B232CD07BA}"/>
    <dgm:cxn modelId="{E5401FE7-3C84-4510-AD63-7AF49A8E8A67}" type="presOf" srcId="{EEA05AC1-B7E2-4242-A6EC-8EF0130CF0F7}" destId="{2208B4CF-A97A-46A9-B0F0-3DCDC0441A0B}" srcOrd="0" destOrd="0" presId="urn:microsoft.com/office/officeart/2005/8/layout/list1"/>
    <dgm:cxn modelId="{976B5DF9-75DE-4B95-9441-3F1CE6E3737B}" srcId="{FBF7D608-BCD9-4CE4-8177-3A883A596468}" destId="{C51570BF-B143-4885-AAFA-F155AEC080A8}" srcOrd="0" destOrd="0" parTransId="{5FD80305-9222-4BA2-83EB-1CA7CDF0E29F}" sibTransId="{F26D8F4C-C88B-45C9-B947-589C5505C5C9}"/>
    <dgm:cxn modelId="{905D97FE-FA95-42D8-BCC7-0BDB5522B7EE}" srcId="{FBF7D608-BCD9-4CE4-8177-3A883A596468}" destId="{2E5FDB77-A4F1-4F8B-8D5E-A2C56563AFD2}" srcOrd="2" destOrd="0" parTransId="{4D5FF1D3-2395-4750-913A-6AAE1FE2CC67}" sibTransId="{12F424BA-7626-43EC-BDFC-3DB527179498}"/>
    <dgm:cxn modelId="{128A30D7-A5C8-421A-A204-FC7D3F846D0A}" type="presParOf" srcId="{14B8B491-B274-4620-8D1F-17E24E8ED466}" destId="{66EFDF10-BFB2-438E-96FB-0E1BE536D18D}" srcOrd="0" destOrd="0" presId="urn:microsoft.com/office/officeart/2005/8/layout/list1"/>
    <dgm:cxn modelId="{78F28E57-67B2-4F85-80EB-0208AC2D4F28}" type="presParOf" srcId="{66EFDF10-BFB2-438E-96FB-0E1BE536D18D}" destId="{2208B4CF-A97A-46A9-B0F0-3DCDC0441A0B}" srcOrd="0" destOrd="0" presId="urn:microsoft.com/office/officeart/2005/8/layout/list1"/>
    <dgm:cxn modelId="{76F49CEB-4247-40E8-AC7C-4BF2F65DF0F8}" type="presParOf" srcId="{66EFDF10-BFB2-438E-96FB-0E1BE536D18D}" destId="{01BCC27B-F125-4790-83BA-DA9A30D60D62}" srcOrd="1" destOrd="0" presId="urn:microsoft.com/office/officeart/2005/8/layout/list1"/>
    <dgm:cxn modelId="{2DB2EFA8-AAE0-46AE-BA38-9D3181E29E73}" type="presParOf" srcId="{14B8B491-B274-4620-8D1F-17E24E8ED466}" destId="{1B15DF3E-1D0B-461A-8B5C-C40A2D5737EC}" srcOrd="1" destOrd="0" presId="urn:microsoft.com/office/officeart/2005/8/layout/list1"/>
    <dgm:cxn modelId="{0A7CB787-DD40-4DAD-9BE1-7603435D8B37}" type="presParOf" srcId="{14B8B491-B274-4620-8D1F-17E24E8ED466}" destId="{0B6A186D-9FD7-4525-A959-B29D56396660}" srcOrd="2" destOrd="0" presId="urn:microsoft.com/office/officeart/2005/8/layout/list1"/>
    <dgm:cxn modelId="{67FEF52D-8148-4ADA-A6D1-471B3C755B54}" type="presParOf" srcId="{14B8B491-B274-4620-8D1F-17E24E8ED466}" destId="{89737CD7-0018-4CA3-9AA4-4F47B5D01B01}" srcOrd="3" destOrd="0" presId="urn:microsoft.com/office/officeart/2005/8/layout/list1"/>
    <dgm:cxn modelId="{CBA69F57-0A7D-4946-8F29-0A5652A44AF6}" type="presParOf" srcId="{14B8B491-B274-4620-8D1F-17E24E8ED466}" destId="{06989AEA-59E8-4077-A16F-76CE6E504598}" srcOrd="4" destOrd="0" presId="urn:microsoft.com/office/officeart/2005/8/layout/list1"/>
    <dgm:cxn modelId="{18ADDA0E-D1BD-4226-A8EB-B615B8300A66}" type="presParOf" srcId="{06989AEA-59E8-4077-A16F-76CE6E504598}" destId="{A85A1436-07B8-4C1D-87D0-8BA1BEB986C9}" srcOrd="0" destOrd="0" presId="urn:microsoft.com/office/officeart/2005/8/layout/list1"/>
    <dgm:cxn modelId="{42EB7AB5-947C-4457-96D1-CCE873FFF148}" type="presParOf" srcId="{06989AEA-59E8-4077-A16F-76CE6E504598}" destId="{6F13D110-4289-48E7-A19D-5EBE6E3243ED}" srcOrd="1" destOrd="0" presId="urn:microsoft.com/office/officeart/2005/8/layout/list1"/>
    <dgm:cxn modelId="{64BEE1CE-E123-47BE-84A6-EBA951C771B2}" type="presParOf" srcId="{14B8B491-B274-4620-8D1F-17E24E8ED466}" destId="{72960C7A-A4D6-45DB-90DE-55573F2391B4}" srcOrd="5" destOrd="0" presId="urn:microsoft.com/office/officeart/2005/8/layout/list1"/>
    <dgm:cxn modelId="{16E1AAFF-4F20-4525-9E51-D4E953051F14}" type="presParOf" srcId="{14B8B491-B274-4620-8D1F-17E24E8ED466}" destId="{DDBDA85C-BD4D-4D6D-9F5C-4206F29B98F8}" srcOrd="6" destOrd="0" presId="urn:microsoft.com/office/officeart/2005/8/layout/list1"/>
    <dgm:cxn modelId="{638C0B03-6E9A-45A1-B179-4A7FA2202914}" type="presParOf" srcId="{14B8B491-B274-4620-8D1F-17E24E8ED466}" destId="{A4413EAD-FB1B-4EEA-9E1D-B90E4245CBA4}" srcOrd="7" destOrd="0" presId="urn:microsoft.com/office/officeart/2005/8/layout/list1"/>
    <dgm:cxn modelId="{A62466DA-AF84-4279-BA89-5281F6D1C9A6}" type="presParOf" srcId="{14B8B491-B274-4620-8D1F-17E24E8ED466}" destId="{F85C3739-20FF-4BA8-A20C-99175E81B2A2}" srcOrd="8" destOrd="0" presId="urn:microsoft.com/office/officeart/2005/8/layout/list1"/>
    <dgm:cxn modelId="{B8516152-91A6-4D0F-87FE-AA45066F6350}" type="presParOf" srcId="{F85C3739-20FF-4BA8-A20C-99175E81B2A2}" destId="{EE07E03E-1CFD-43F6-B7DB-E85D1A94B106}" srcOrd="0" destOrd="0" presId="urn:microsoft.com/office/officeart/2005/8/layout/list1"/>
    <dgm:cxn modelId="{47114E65-92DB-4ACE-A41E-013F1F4F128F}" type="presParOf" srcId="{F85C3739-20FF-4BA8-A20C-99175E81B2A2}" destId="{3CDF665D-A716-4ED1-8FB9-0E004A5CB5E5}" srcOrd="1" destOrd="0" presId="urn:microsoft.com/office/officeart/2005/8/layout/list1"/>
    <dgm:cxn modelId="{A640E136-25FF-413D-A603-685DB0C87D80}" type="presParOf" srcId="{14B8B491-B274-4620-8D1F-17E24E8ED466}" destId="{D63DFF57-8D75-4291-B776-C6D650068238}" srcOrd="9" destOrd="0" presId="urn:microsoft.com/office/officeart/2005/8/layout/list1"/>
    <dgm:cxn modelId="{CA5D43C6-E5B7-4411-8443-0CC82FAEF4D4}" type="presParOf" srcId="{14B8B491-B274-4620-8D1F-17E24E8ED466}" destId="{84ABF97E-52BB-4D2B-B23C-2AF82DEF6198}" srcOrd="10" destOrd="0" presId="urn:microsoft.com/office/officeart/2005/8/layout/list1"/>
    <dgm:cxn modelId="{833B13C7-5D67-4EE2-9C90-988E39E009C5}" type="presParOf" srcId="{14B8B491-B274-4620-8D1F-17E24E8ED466}" destId="{B1335CC1-08B9-4E9D-B186-B5424417C5A7}" srcOrd="11" destOrd="0" presId="urn:microsoft.com/office/officeart/2005/8/layout/list1"/>
    <dgm:cxn modelId="{4BD9A1E3-821F-4C62-BBCA-C5F7B860EC42}" type="presParOf" srcId="{14B8B491-B274-4620-8D1F-17E24E8ED466}" destId="{6356F0AE-70B0-4DB5-8166-E27BC885AD5F}" srcOrd="12" destOrd="0" presId="urn:microsoft.com/office/officeart/2005/8/layout/list1"/>
    <dgm:cxn modelId="{B2F2C3EB-944B-4150-820D-DF0B964FD100}" type="presParOf" srcId="{6356F0AE-70B0-4DB5-8166-E27BC885AD5F}" destId="{3B1F9E54-CD7C-4030-9790-10F8BBFBCDF1}" srcOrd="0" destOrd="0" presId="urn:microsoft.com/office/officeart/2005/8/layout/list1"/>
    <dgm:cxn modelId="{09FBCD6C-D024-4D67-AF62-C35CE637191C}" type="presParOf" srcId="{6356F0AE-70B0-4DB5-8166-E27BC885AD5F}" destId="{A7D0C229-7D2C-4408-807F-3B3FFEDFB35E}" srcOrd="1" destOrd="0" presId="urn:microsoft.com/office/officeart/2005/8/layout/list1"/>
    <dgm:cxn modelId="{8B0B45CB-F488-499D-8B46-BB0B658D77D6}" type="presParOf" srcId="{14B8B491-B274-4620-8D1F-17E24E8ED466}" destId="{C83CBB1C-1588-4E6E-84D1-63C2E5C10751}" srcOrd="13" destOrd="0" presId="urn:microsoft.com/office/officeart/2005/8/layout/list1"/>
    <dgm:cxn modelId="{F15AA81D-B1E0-41C6-BD0C-593BDB18A925}" type="presParOf" srcId="{14B8B491-B274-4620-8D1F-17E24E8ED466}" destId="{0E9AC2D6-E032-4881-8470-AA4CC936F98A}" srcOrd="14"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6A186D-9FD7-4525-A959-B29D56396660}">
      <dsp:nvSpPr>
        <dsp:cNvPr id="0" name=""/>
        <dsp:cNvSpPr/>
      </dsp:nvSpPr>
      <dsp:spPr>
        <a:xfrm>
          <a:off x="0" y="393867"/>
          <a:ext cx="7620000" cy="327600"/>
        </a:xfrm>
        <a:prstGeom prst="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01BCC27B-F125-4790-83BA-DA9A30D60D62}">
      <dsp:nvSpPr>
        <dsp:cNvPr id="0" name=""/>
        <dsp:cNvSpPr/>
      </dsp:nvSpPr>
      <dsp:spPr>
        <a:xfrm>
          <a:off x="381000" y="2209"/>
          <a:ext cx="6248407" cy="583537"/>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1613" tIns="0" rIns="201613" bIns="0" numCol="1" spcCol="1270" anchor="ctr" anchorCtr="0">
          <a:noAutofit/>
        </a:bodyPr>
        <a:lstStyle/>
        <a:p>
          <a:pPr marL="0" lvl="0" indent="0" algn="l" defTabSz="889000" rtl="0">
            <a:lnSpc>
              <a:spcPct val="90000"/>
            </a:lnSpc>
            <a:spcBef>
              <a:spcPct val="0"/>
            </a:spcBef>
            <a:spcAft>
              <a:spcPct val="35000"/>
            </a:spcAft>
            <a:buNone/>
          </a:pPr>
          <a:r>
            <a:rPr lang="en-US" sz="2000" b="1" kern="1200" dirty="0">
              <a:solidFill>
                <a:schemeClr val="tx2">
                  <a:lumMod val="75000"/>
                </a:schemeClr>
              </a:solidFill>
            </a:rPr>
            <a:t>Introduction </a:t>
          </a:r>
          <a:r>
            <a:rPr lang="kn-IN" sz="2000" b="1" i="1" kern="1200" dirty="0">
              <a:solidFill>
                <a:schemeClr val="tx2">
                  <a:lumMod val="75000"/>
                </a:schemeClr>
              </a:solidFill>
            </a:rPr>
            <a:t>ಪರಿಚಯ</a:t>
          </a:r>
          <a:endParaRPr lang="en-IN" sz="2000" b="1" i="1" kern="1200" dirty="0">
            <a:solidFill>
              <a:schemeClr val="tx2">
                <a:lumMod val="75000"/>
              </a:schemeClr>
            </a:solidFill>
          </a:endParaRPr>
        </a:p>
      </dsp:txBody>
      <dsp:txXfrm>
        <a:off x="409486" y="30695"/>
        <a:ext cx="6191435" cy="526565"/>
      </dsp:txXfrm>
    </dsp:sp>
    <dsp:sp modelId="{DDBDA85C-BD4D-4D6D-9F5C-4206F29B98F8}">
      <dsp:nvSpPr>
        <dsp:cNvPr id="0" name=""/>
        <dsp:cNvSpPr/>
      </dsp:nvSpPr>
      <dsp:spPr>
        <a:xfrm>
          <a:off x="0" y="1183325"/>
          <a:ext cx="7620000" cy="327600"/>
        </a:xfrm>
        <a:prstGeom prst="rect">
          <a:avLst/>
        </a:prstGeom>
        <a:solidFill>
          <a:schemeClr val="lt1">
            <a:alpha val="90000"/>
            <a:hueOff val="0"/>
            <a:satOff val="0"/>
            <a:lumOff val="0"/>
            <a:alphaOff val="0"/>
          </a:schemeClr>
        </a:solidFill>
        <a:ln w="9525" cap="flat" cmpd="sng" algn="ctr">
          <a:solidFill>
            <a:schemeClr val="accent5">
              <a:hueOff val="-3311292"/>
              <a:satOff val="13270"/>
              <a:lumOff val="2876"/>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6F13D110-4289-48E7-A19D-5EBE6E3243ED}">
      <dsp:nvSpPr>
        <dsp:cNvPr id="0" name=""/>
        <dsp:cNvSpPr/>
      </dsp:nvSpPr>
      <dsp:spPr>
        <a:xfrm>
          <a:off x="381000" y="791667"/>
          <a:ext cx="6248407" cy="583537"/>
        </a:xfrm>
        <a:prstGeom prst="roundRect">
          <a:avLst/>
        </a:prstGeom>
        <a:gradFill rotWithShape="0">
          <a:gsLst>
            <a:gs pos="0">
              <a:schemeClr val="accent5">
                <a:hueOff val="-3311292"/>
                <a:satOff val="13270"/>
                <a:lumOff val="2876"/>
                <a:alphaOff val="0"/>
                <a:shade val="51000"/>
                <a:satMod val="130000"/>
              </a:schemeClr>
            </a:gs>
            <a:gs pos="80000">
              <a:schemeClr val="accent5">
                <a:hueOff val="-3311292"/>
                <a:satOff val="13270"/>
                <a:lumOff val="2876"/>
                <a:alphaOff val="0"/>
                <a:shade val="93000"/>
                <a:satMod val="130000"/>
              </a:schemeClr>
            </a:gs>
            <a:gs pos="100000">
              <a:schemeClr val="accent5">
                <a:hueOff val="-3311292"/>
                <a:satOff val="13270"/>
                <a:lumOff val="287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1613" tIns="0" rIns="201613" bIns="0" numCol="1" spcCol="1270" anchor="ctr" anchorCtr="0">
          <a:noAutofit/>
        </a:bodyPr>
        <a:lstStyle/>
        <a:p>
          <a:pPr marL="0" lvl="0" indent="0" algn="l" defTabSz="889000" rtl="0">
            <a:lnSpc>
              <a:spcPct val="90000"/>
            </a:lnSpc>
            <a:spcBef>
              <a:spcPct val="0"/>
            </a:spcBef>
            <a:spcAft>
              <a:spcPct val="35000"/>
            </a:spcAft>
            <a:buNone/>
          </a:pPr>
          <a:r>
            <a:rPr lang="en-US" sz="2000" b="1" kern="1200" dirty="0">
              <a:solidFill>
                <a:schemeClr val="tx2">
                  <a:lumMod val="75000"/>
                </a:schemeClr>
              </a:solidFill>
            </a:rPr>
            <a:t>Example </a:t>
          </a:r>
          <a:r>
            <a:rPr lang="kn-IN" sz="1800" b="1" i="1" kern="1200" dirty="0">
              <a:solidFill>
                <a:schemeClr val="tx2">
                  <a:lumMod val="75000"/>
                </a:schemeClr>
              </a:solidFill>
            </a:rPr>
            <a:t>ಉದಾಹರಣೆ</a:t>
          </a:r>
          <a:endParaRPr lang="en-IN" sz="1800" b="1" i="1" kern="1200" dirty="0">
            <a:solidFill>
              <a:schemeClr val="tx2">
                <a:lumMod val="75000"/>
              </a:schemeClr>
            </a:solidFill>
          </a:endParaRPr>
        </a:p>
      </dsp:txBody>
      <dsp:txXfrm>
        <a:off x="409486" y="820153"/>
        <a:ext cx="6191435" cy="526565"/>
      </dsp:txXfrm>
    </dsp:sp>
    <dsp:sp modelId="{84ABF97E-52BB-4D2B-B23C-2AF82DEF6198}">
      <dsp:nvSpPr>
        <dsp:cNvPr id="0" name=""/>
        <dsp:cNvSpPr/>
      </dsp:nvSpPr>
      <dsp:spPr>
        <a:xfrm>
          <a:off x="0" y="1972782"/>
          <a:ext cx="7620000" cy="2457000"/>
        </a:xfrm>
        <a:prstGeom prst="rect">
          <a:avLst/>
        </a:prstGeom>
        <a:solidFill>
          <a:schemeClr val="lt1">
            <a:alpha val="90000"/>
            <a:hueOff val="0"/>
            <a:satOff val="0"/>
            <a:lumOff val="0"/>
            <a:alphaOff val="0"/>
          </a:schemeClr>
        </a:solidFill>
        <a:ln w="9525" cap="flat" cmpd="sng" algn="ctr">
          <a:solidFill>
            <a:schemeClr val="accent5">
              <a:hueOff val="-6622584"/>
              <a:satOff val="26541"/>
              <a:lumOff val="5752"/>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91397" tIns="270764" rIns="591397" bIns="142240" numCol="1" spcCol="1270" anchor="t" anchorCtr="0">
          <a:noAutofit/>
        </a:bodyPr>
        <a:lstStyle/>
        <a:p>
          <a:pPr marL="228600" lvl="1" indent="-228600" algn="l" defTabSz="889000" rtl="0">
            <a:lnSpc>
              <a:spcPct val="90000"/>
            </a:lnSpc>
            <a:spcBef>
              <a:spcPct val="0"/>
            </a:spcBef>
            <a:spcAft>
              <a:spcPct val="15000"/>
            </a:spcAft>
            <a:buChar char="•"/>
          </a:pPr>
          <a:r>
            <a:rPr lang="en-US" sz="2000" b="1" kern="1200" dirty="0"/>
            <a:t>Sorting </a:t>
          </a:r>
          <a:r>
            <a:rPr lang="kn-IN" sz="1800" b="1" i="1" kern="1200" dirty="0">
              <a:solidFill>
                <a:schemeClr val="tx2"/>
              </a:solidFill>
            </a:rPr>
            <a:t>ವಿಂಗಡಿಸಿ</a:t>
          </a:r>
          <a:endParaRPr lang="en-IN" sz="1800" b="1" i="1" kern="1200" dirty="0">
            <a:solidFill>
              <a:schemeClr val="tx2"/>
            </a:solidFill>
          </a:endParaRPr>
        </a:p>
        <a:p>
          <a:pPr marL="228600" lvl="1" indent="-228600" algn="l" defTabSz="889000" rtl="0">
            <a:lnSpc>
              <a:spcPct val="90000"/>
            </a:lnSpc>
            <a:spcBef>
              <a:spcPct val="0"/>
            </a:spcBef>
            <a:spcAft>
              <a:spcPct val="15000"/>
            </a:spcAft>
            <a:buChar char="•"/>
          </a:pPr>
          <a:r>
            <a:rPr lang="en-US" sz="2000" b="1" kern="1200" dirty="0"/>
            <a:t>Set in order </a:t>
          </a:r>
          <a:r>
            <a:rPr lang="kn-IN" sz="1800" b="1" i="1" kern="1200" dirty="0">
              <a:solidFill>
                <a:schemeClr val="tx2"/>
              </a:solidFill>
            </a:rPr>
            <a:t>ಕ್ರಮದಲ್ಲಿ ಹೊಂದಿಸಿ</a:t>
          </a:r>
          <a:endParaRPr lang="en-IN" sz="1800" b="1" i="1" kern="1200" dirty="0">
            <a:solidFill>
              <a:schemeClr val="tx2"/>
            </a:solidFill>
          </a:endParaRPr>
        </a:p>
        <a:p>
          <a:pPr marL="228600" lvl="1" indent="-228600" algn="l" defTabSz="889000" rtl="0">
            <a:lnSpc>
              <a:spcPct val="90000"/>
            </a:lnSpc>
            <a:spcBef>
              <a:spcPct val="0"/>
            </a:spcBef>
            <a:spcAft>
              <a:spcPct val="15000"/>
            </a:spcAft>
            <a:buChar char="•"/>
          </a:pPr>
          <a:r>
            <a:rPr lang="en-US" sz="2000" b="1" kern="1200" dirty="0"/>
            <a:t>Shine </a:t>
          </a:r>
          <a:r>
            <a:rPr lang="kn-IN" sz="1800" b="1" i="1" kern="1200" dirty="0">
              <a:solidFill>
                <a:schemeClr val="tx2"/>
              </a:solidFill>
            </a:rPr>
            <a:t>ಹೊಳಪು</a:t>
          </a:r>
          <a:r>
            <a:rPr lang="en-US" sz="1800" b="1" i="1" kern="1200" dirty="0"/>
            <a:t> </a:t>
          </a:r>
          <a:r>
            <a:rPr lang="en-US" sz="2000" b="1" kern="1200" dirty="0"/>
            <a:t>	</a:t>
          </a:r>
          <a:endParaRPr lang="en-IN" sz="2000" b="1" kern="1200" dirty="0"/>
        </a:p>
        <a:p>
          <a:pPr marL="228600" lvl="1" indent="-228600" algn="l" defTabSz="889000" rtl="0">
            <a:lnSpc>
              <a:spcPct val="90000"/>
            </a:lnSpc>
            <a:spcBef>
              <a:spcPct val="0"/>
            </a:spcBef>
            <a:spcAft>
              <a:spcPct val="15000"/>
            </a:spcAft>
            <a:buChar char="•"/>
          </a:pPr>
          <a:r>
            <a:rPr lang="en-US" sz="2000" b="1" kern="1200" dirty="0"/>
            <a:t>Standardization </a:t>
          </a:r>
          <a:r>
            <a:rPr lang="kn-IN" sz="1800" b="1" i="1" kern="1200" dirty="0">
              <a:solidFill>
                <a:schemeClr val="tx2"/>
              </a:solidFill>
            </a:rPr>
            <a:t>ಪ್ರಮಾಣೀಕರಿಸು</a:t>
          </a:r>
          <a:endParaRPr lang="en-IN" sz="1800" b="1" i="1" kern="1200" dirty="0"/>
        </a:p>
        <a:p>
          <a:pPr marL="228600" lvl="1" indent="-228600" algn="l" defTabSz="889000" rtl="0">
            <a:lnSpc>
              <a:spcPct val="90000"/>
            </a:lnSpc>
            <a:spcBef>
              <a:spcPct val="0"/>
            </a:spcBef>
            <a:spcAft>
              <a:spcPct val="15000"/>
            </a:spcAft>
            <a:buChar char="•"/>
          </a:pPr>
          <a:r>
            <a:rPr lang="en-US" sz="2000" b="1" kern="1200" dirty="0"/>
            <a:t>Sustain </a:t>
          </a:r>
          <a:r>
            <a:rPr lang="kn-IN" sz="1800" b="1" i="1" kern="1200" dirty="0">
              <a:solidFill>
                <a:schemeClr val="tx2"/>
              </a:solidFill>
            </a:rPr>
            <a:t>ನಿರಂತರವಾಗಿ ಉಳಿಸಿಕೊಳ್ಳು</a:t>
          </a:r>
          <a:r>
            <a:rPr lang="en-US" sz="1800" b="1" i="1" kern="1200" dirty="0"/>
            <a:t> </a:t>
          </a:r>
          <a:endParaRPr lang="en-IN" sz="2000" b="1" i="1" kern="1200" dirty="0"/>
        </a:p>
      </dsp:txBody>
      <dsp:txXfrm>
        <a:off x="0" y="1972782"/>
        <a:ext cx="7620000" cy="2457000"/>
      </dsp:txXfrm>
    </dsp:sp>
    <dsp:sp modelId="{3CDF665D-A716-4ED1-8FB9-0E004A5CB5E5}">
      <dsp:nvSpPr>
        <dsp:cNvPr id="0" name=""/>
        <dsp:cNvSpPr/>
      </dsp:nvSpPr>
      <dsp:spPr>
        <a:xfrm>
          <a:off x="381000" y="1581125"/>
          <a:ext cx="6248407" cy="583537"/>
        </a:xfrm>
        <a:prstGeom prst="roundRect">
          <a:avLst/>
        </a:prstGeom>
        <a:gradFill rotWithShape="0">
          <a:gsLst>
            <a:gs pos="0">
              <a:schemeClr val="accent5">
                <a:hueOff val="-6622584"/>
                <a:satOff val="26541"/>
                <a:lumOff val="5752"/>
                <a:alphaOff val="0"/>
                <a:shade val="51000"/>
                <a:satMod val="130000"/>
              </a:schemeClr>
            </a:gs>
            <a:gs pos="80000">
              <a:schemeClr val="accent5">
                <a:hueOff val="-6622584"/>
                <a:satOff val="26541"/>
                <a:lumOff val="5752"/>
                <a:alphaOff val="0"/>
                <a:shade val="93000"/>
                <a:satMod val="130000"/>
              </a:schemeClr>
            </a:gs>
            <a:gs pos="100000">
              <a:schemeClr val="accent5">
                <a:hueOff val="-6622584"/>
                <a:satOff val="26541"/>
                <a:lumOff val="5752"/>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1613" tIns="0" rIns="201613" bIns="0" numCol="1" spcCol="1270" anchor="ctr" anchorCtr="0">
          <a:noAutofit/>
        </a:bodyPr>
        <a:lstStyle/>
        <a:p>
          <a:pPr marL="0" lvl="0" indent="0" algn="l" defTabSz="889000" rtl="0">
            <a:lnSpc>
              <a:spcPct val="90000"/>
            </a:lnSpc>
            <a:spcBef>
              <a:spcPct val="0"/>
            </a:spcBef>
            <a:spcAft>
              <a:spcPct val="35000"/>
            </a:spcAft>
            <a:buNone/>
          </a:pPr>
          <a:r>
            <a:rPr lang="en-US" sz="2000" b="1" kern="1200" dirty="0">
              <a:solidFill>
                <a:schemeClr val="tx2">
                  <a:lumMod val="75000"/>
                </a:schemeClr>
              </a:solidFill>
            </a:rPr>
            <a:t>Steps for 5s </a:t>
          </a:r>
          <a:r>
            <a:rPr lang="kn-IN" sz="2000" b="1" i="1" kern="1200" dirty="0">
              <a:solidFill>
                <a:schemeClr val="tx2">
                  <a:lumMod val="75000"/>
                </a:schemeClr>
              </a:solidFill>
            </a:rPr>
            <a:t>5 ಸೆ.ಗಾಗಿ ಹಂತಗಳು</a:t>
          </a:r>
          <a:endParaRPr lang="en-IN" sz="2000" b="1" i="1" kern="1200" dirty="0">
            <a:solidFill>
              <a:schemeClr val="tx2">
                <a:lumMod val="75000"/>
              </a:schemeClr>
            </a:solidFill>
          </a:endParaRPr>
        </a:p>
      </dsp:txBody>
      <dsp:txXfrm>
        <a:off x="409486" y="1609611"/>
        <a:ext cx="6191435" cy="526565"/>
      </dsp:txXfrm>
    </dsp:sp>
    <dsp:sp modelId="{0E9AC2D6-E032-4881-8470-AA4CC936F98A}">
      <dsp:nvSpPr>
        <dsp:cNvPr id="0" name=""/>
        <dsp:cNvSpPr/>
      </dsp:nvSpPr>
      <dsp:spPr>
        <a:xfrm>
          <a:off x="0" y="4891640"/>
          <a:ext cx="7620000" cy="327600"/>
        </a:xfrm>
        <a:prstGeom prst="rect">
          <a:avLst/>
        </a:prstGeom>
        <a:solidFill>
          <a:schemeClr val="lt1">
            <a:alpha val="90000"/>
            <a:hueOff val="0"/>
            <a:satOff val="0"/>
            <a:lumOff val="0"/>
            <a:alphaOff val="0"/>
          </a:schemeClr>
        </a:solidFill>
        <a:ln w="9525" cap="flat" cmpd="sng" algn="ctr">
          <a:solidFill>
            <a:schemeClr val="accent5">
              <a:hueOff val="-9933876"/>
              <a:satOff val="39811"/>
              <a:lumOff val="8628"/>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A7D0C229-7D2C-4408-807F-3B3FFEDFB35E}">
      <dsp:nvSpPr>
        <dsp:cNvPr id="0" name=""/>
        <dsp:cNvSpPr/>
      </dsp:nvSpPr>
      <dsp:spPr>
        <a:xfrm>
          <a:off x="381000" y="4499982"/>
          <a:ext cx="6248407" cy="583537"/>
        </a:xfrm>
        <a:prstGeom prst="roundRect">
          <a:avLst/>
        </a:prstGeom>
        <a:gradFill rotWithShape="0">
          <a:gsLst>
            <a:gs pos="0">
              <a:schemeClr val="accent5">
                <a:hueOff val="-9933876"/>
                <a:satOff val="39811"/>
                <a:lumOff val="8628"/>
                <a:alphaOff val="0"/>
                <a:shade val="51000"/>
                <a:satMod val="130000"/>
              </a:schemeClr>
            </a:gs>
            <a:gs pos="80000">
              <a:schemeClr val="accent5">
                <a:hueOff val="-9933876"/>
                <a:satOff val="39811"/>
                <a:lumOff val="8628"/>
                <a:alphaOff val="0"/>
                <a:shade val="93000"/>
                <a:satMod val="130000"/>
              </a:schemeClr>
            </a:gs>
            <a:gs pos="100000">
              <a:schemeClr val="accent5">
                <a:hueOff val="-9933876"/>
                <a:satOff val="39811"/>
                <a:lumOff val="862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1613" tIns="0" rIns="201613" bIns="0" numCol="1" spcCol="1270" anchor="ctr" anchorCtr="0">
          <a:noAutofit/>
        </a:bodyPr>
        <a:lstStyle/>
        <a:p>
          <a:pPr marL="0" lvl="0" indent="0" algn="l" defTabSz="889000" rtl="0">
            <a:lnSpc>
              <a:spcPct val="90000"/>
            </a:lnSpc>
            <a:spcBef>
              <a:spcPct val="0"/>
            </a:spcBef>
            <a:spcAft>
              <a:spcPct val="35000"/>
            </a:spcAft>
            <a:buNone/>
          </a:pPr>
          <a:r>
            <a:rPr lang="en-US" sz="2000" b="1" kern="1200" dirty="0"/>
            <a:t>Advantages of 5s </a:t>
          </a:r>
          <a:r>
            <a:rPr lang="kn-IN" sz="2000" kern="1200" dirty="0"/>
            <a:t>5 ರ ಪ್ರಯೋಜನಗಳು</a:t>
          </a:r>
          <a:endParaRPr lang="en-IN" sz="2000" b="1" kern="1200" dirty="0"/>
        </a:p>
      </dsp:txBody>
      <dsp:txXfrm>
        <a:off x="409486" y="4528468"/>
        <a:ext cx="6191435" cy="526565"/>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273F609-B056-4887-8D5D-0DF9D87A05A9}" type="datetimeFigureOut">
              <a:rPr lang="en-IN" smtClean="0"/>
              <a:t>08-08-2025</a:t>
            </a:fld>
            <a:endParaRPr lang="en-IN" dirty="0"/>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3FE56D3-59A7-4436-A02B-124D785A4C17}" type="slidenum">
              <a:rPr lang="en-IN" smtClean="0"/>
              <a:t>‹#›</a:t>
            </a:fld>
            <a:endParaRPr lang="en-IN" dirty="0"/>
          </a:p>
        </p:txBody>
      </p:sp>
    </p:spTree>
    <p:extLst>
      <p:ext uri="{BB962C8B-B14F-4D97-AF65-F5344CB8AC3E}">
        <p14:creationId xmlns:p14="http://schemas.microsoft.com/office/powerpoint/2010/main" val="2216668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134262" y="916635"/>
            <a:ext cx="6396355" cy="2755265"/>
          </a:xfrm>
          <a:prstGeom prst="rect">
            <a:avLst/>
          </a:prstGeom>
        </p:spPr>
        <p:txBody>
          <a:bodyPr wrap="square" lIns="0" tIns="0" rIns="0" bIns="0">
            <a:spAutoFit/>
          </a:bodyPr>
          <a:lstStyle>
            <a:lvl1pPr>
              <a:defRPr sz="2200" b="1" i="0">
                <a:solidFill>
                  <a:schemeClr val="bg1"/>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8/8/2025</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8/8/2025</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1999" cy="6857996"/>
          </a:xfrm>
          <a:prstGeom prst="rect">
            <a:avLst/>
          </a:prstGeom>
        </p:spPr>
      </p:pic>
      <p:pic>
        <p:nvPicPr>
          <p:cNvPr id="17" name="bg object 17"/>
          <p:cNvPicPr/>
          <p:nvPr/>
        </p:nvPicPr>
        <p:blipFill>
          <a:blip r:embed="rId3" cstate="print"/>
          <a:stretch>
            <a:fillRect/>
          </a:stretch>
        </p:blipFill>
        <p:spPr>
          <a:xfrm>
            <a:off x="0" y="5896305"/>
            <a:ext cx="12191999" cy="961692"/>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8/8/2025</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608323" y="101854"/>
            <a:ext cx="3790950" cy="360680"/>
          </a:xfrm>
          <a:prstGeom prst="rect">
            <a:avLst/>
          </a:prstGeom>
        </p:spPr>
        <p:txBody>
          <a:bodyPr wrap="square" lIns="0" tIns="0" rIns="0" bIns="0">
            <a:spAutoFit/>
          </a:bodyPr>
          <a:lstStyle>
            <a:lvl1pPr>
              <a:defRPr sz="2200" b="1" i="0">
                <a:solidFill>
                  <a:schemeClr val="bg1"/>
                </a:solidFill>
                <a:latin typeface="Arial"/>
                <a:cs typeface="Arial"/>
              </a:defRPr>
            </a:lvl1pPr>
          </a:lstStyle>
          <a:p>
            <a:endParaRPr/>
          </a:p>
        </p:txBody>
      </p:sp>
      <p:sp>
        <p:nvSpPr>
          <p:cNvPr id="3" name="Holder 3"/>
          <p:cNvSpPr>
            <a:spLocks noGrp="1"/>
          </p:cNvSpPr>
          <p:nvPr>
            <p:ph type="body" idx="1"/>
          </p:nvPr>
        </p:nvSpPr>
        <p:spPr>
          <a:xfrm>
            <a:off x="1922017" y="2432304"/>
            <a:ext cx="9761220" cy="146240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8/8/2025</a:t>
            </a:fld>
            <a:endParaRPr lang="en-US" dirty="0"/>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4.png"/><Relationship Id="rId7" Type="http://schemas.openxmlformats.org/officeDocument/2006/relationships/diagramData" Target="../diagrams/data1.xml"/><Relationship Id="rId12" Type="http://schemas.openxmlformats.org/officeDocument/2006/relationships/image" Target="../media/image8.jp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7.png"/><Relationship Id="rId11" Type="http://schemas.microsoft.com/office/2007/relationships/diagramDrawing" Target="../diagrams/drawing1.xml"/><Relationship Id="rId5" Type="http://schemas.openxmlformats.org/officeDocument/2006/relationships/image" Target="../media/image6.png"/><Relationship Id="rId10" Type="http://schemas.openxmlformats.org/officeDocument/2006/relationships/diagramColors" Target="../diagrams/colors1.xml"/><Relationship Id="rId4" Type="http://schemas.openxmlformats.org/officeDocument/2006/relationships/image" Target="../media/image5.png"/><Relationship Id="rId9"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4.png"/><Relationship Id="rId7" Type="http://schemas.openxmlformats.org/officeDocument/2006/relationships/image" Target="../media/image9.jp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1.jpg"/></Relationships>
</file>

<file path=ppt/slides/_rels/slide5.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4.png"/><Relationship Id="rId7" Type="http://schemas.openxmlformats.org/officeDocument/2006/relationships/image" Target="../media/image12.jp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4.jp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image" Target="../media/image4.png"/><Relationship Id="rId7" Type="http://schemas.openxmlformats.org/officeDocument/2006/relationships/image" Target="../media/image17.jp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4.png"/><Relationship Id="rId7"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1.jp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2.jp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1154" t="-2879" r="11154" b="-1"/>
          <a:stretch/>
        </p:blipFill>
        <p:spPr bwMode="auto">
          <a:xfrm>
            <a:off x="4114801" y="652947"/>
            <a:ext cx="6883216" cy="5138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object 2"/>
          <p:cNvPicPr/>
          <p:nvPr/>
        </p:nvPicPr>
        <p:blipFill>
          <a:blip r:embed="rId4" cstate="print"/>
          <a:stretch>
            <a:fillRect/>
          </a:stretch>
        </p:blipFill>
        <p:spPr>
          <a:xfrm>
            <a:off x="0" y="5896305"/>
            <a:ext cx="12191999" cy="961691"/>
          </a:xfrm>
          <a:prstGeom prst="rect">
            <a:avLst/>
          </a:prstGeom>
        </p:spPr>
      </p:pic>
      <p:pic>
        <p:nvPicPr>
          <p:cNvPr id="3" name="object 3"/>
          <p:cNvPicPr/>
          <p:nvPr/>
        </p:nvPicPr>
        <p:blipFill>
          <a:blip r:embed="rId5" cstate="print"/>
          <a:stretch>
            <a:fillRect/>
          </a:stretch>
        </p:blipFill>
        <p:spPr>
          <a:xfrm>
            <a:off x="0" y="1346"/>
            <a:ext cx="8229600" cy="1079550"/>
          </a:xfrm>
          <a:prstGeom prst="rect">
            <a:avLst/>
          </a:prstGeom>
        </p:spPr>
      </p:pic>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lang="en-US" spc="-155" dirty="0"/>
              <a:t>EMMVEE</a:t>
            </a:r>
            <a:r>
              <a:rPr spc="-5" dirty="0"/>
              <a:t> </a:t>
            </a:r>
            <a:r>
              <a:rPr lang="en-US" spc="-105" dirty="0"/>
              <a:t>Training Session</a:t>
            </a:r>
            <a:endParaRPr spc="-75" dirty="0"/>
          </a:p>
        </p:txBody>
      </p:sp>
      <p:grpSp>
        <p:nvGrpSpPr>
          <p:cNvPr id="5" name="object 5"/>
          <p:cNvGrpSpPr/>
          <p:nvPr/>
        </p:nvGrpSpPr>
        <p:grpSpPr>
          <a:xfrm>
            <a:off x="10747247" y="0"/>
            <a:ext cx="1445260" cy="1414780"/>
            <a:chOff x="10747247" y="0"/>
            <a:chExt cx="1445260" cy="1414780"/>
          </a:xfrm>
        </p:grpSpPr>
        <p:pic>
          <p:nvPicPr>
            <p:cNvPr id="6" name="object 6"/>
            <p:cNvPicPr/>
            <p:nvPr/>
          </p:nvPicPr>
          <p:blipFill>
            <a:blip r:embed="rId6" cstate="print"/>
            <a:stretch>
              <a:fillRect/>
            </a:stretch>
          </p:blipFill>
          <p:spPr>
            <a:xfrm>
              <a:off x="10747247" y="0"/>
              <a:ext cx="1444752" cy="1414272"/>
            </a:xfrm>
            <a:prstGeom prst="rect">
              <a:avLst/>
            </a:prstGeom>
          </p:spPr>
        </p:pic>
        <p:pic>
          <p:nvPicPr>
            <p:cNvPr id="7" name="object 7"/>
            <p:cNvPicPr/>
            <p:nvPr/>
          </p:nvPicPr>
          <p:blipFill>
            <a:blip r:embed="rId7" cstate="print"/>
            <a:stretch>
              <a:fillRect/>
            </a:stretch>
          </p:blipFill>
          <p:spPr>
            <a:xfrm>
              <a:off x="10890884" y="0"/>
              <a:ext cx="1301114" cy="1271397"/>
            </a:xfrm>
            <a:prstGeom prst="rect">
              <a:avLst/>
            </a:prstGeom>
          </p:spPr>
        </p:pic>
      </p:grpSp>
      <p:sp>
        <p:nvSpPr>
          <p:cNvPr id="8" name="AutoShape 2" descr="5 Tips to Make eLearning As Engaging As Classroom Train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itle 1"/>
          <p:cNvSpPr txBox="1">
            <a:spLocks/>
          </p:cNvSpPr>
          <p:nvPr/>
        </p:nvSpPr>
        <p:spPr>
          <a:xfrm>
            <a:off x="612775" y="1600200"/>
            <a:ext cx="3959225" cy="4154984"/>
          </a:xfrm>
          <a:prstGeom prst="rect">
            <a:avLst/>
          </a:prstGeom>
        </p:spPr>
        <p:txBody>
          <a:bodyPr wrap="square" lIns="0" tIns="0" rIns="0" bIns="0" anchor="t">
            <a:spAutoFit/>
          </a:bodyPr>
          <a:lstStyle>
            <a:lvl1pPr>
              <a:defRPr sz="2200" b="1" i="0">
                <a:solidFill>
                  <a:schemeClr val="bg1"/>
                </a:solidFill>
                <a:latin typeface="Arial"/>
                <a:ea typeface="+mj-ea"/>
                <a:cs typeface="Arial"/>
              </a:defRPr>
            </a:lvl1pPr>
          </a:lstStyle>
          <a:p>
            <a:r>
              <a:rPr lang="en-GB" sz="4500" i="1" dirty="0">
                <a:solidFill>
                  <a:schemeClr val="tx2"/>
                </a:solidFill>
                <a:latin typeface="Cambria"/>
                <a:ea typeface="Cambria"/>
              </a:rPr>
              <a:t>Welcome to Training on 5S IN SHOP FLOOR AND WORK STATIONS </a:t>
            </a:r>
            <a:endParaRPr lang="en-GB" sz="4500" i="1" dirty="0">
              <a:solidFill>
                <a:schemeClr val="tx2"/>
              </a:solidFill>
              <a:latin typeface="Cambria" pitchFamily="18"/>
              <a:ea typeface="Cambria" pitchFamily="18"/>
            </a:endParaRPr>
          </a:p>
        </p:txBody>
      </p:sp>
    </p:spTree>
    <p:custDataLst>
      <p:tags r:id="rId1"/>
    </p:custDataLst>
    <p:extLst>
      <p:ext uri="{BB962C8B-B14F-4D97-AF65-F5344CB8AC3E}">
        <p14:creationId xmlns:p14="http://schemas.microsoft.com/office/powerpoint/2010/main" val="208978817"/>
      </p:ext>
    </p:extLst>
  </p:cSld>
  <p:clrMapOvr>
    <a:masterClrMapping/>
  </p:clrMapOvr>
  <mc:AlternateContent xmlns:mc="http://schemas.openxmlformats.org/markup-compatibility/2006" xmlns:p14="http://schemas.microsoft.com/office/powerpoint/2010/main">
    <mc:Choice Requires="p14">
      <p:transition spd="slow" p14:dur="2000" advTm="10525"/>
    </mc:Choice>
    <mc:Fallback xmlns="">
      <p:transition spd="slow" advTm="1052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p:cTn id="7" dur="500" fill="hold"/>
                                        <p:tgtEl>
                                          <p:spTgt spid="2050"/>
                                        </p:tgtEl>
                                        <p:attrNameLst>
                                          <p:attrName>ppt_w</p:attrName>
                                        </p:attrNameLst>
                                      </p:cBhvr>
                                      <p:tavLst>
                                        <p:tav tm="0">
                                          <p:val>
                                            <p:fltVal val="0"/>
                                          </p:val>
                                        </p:tav>
                                        <p:tav tm="100000">
                                          <p:val>
                                            <p:strVal val="#ppt_w"/>
                                          </p:val>
                                        </p:tav>
                                      </p:tavLst>
                                    </p:anim>
                                    <p:anim calcmode="lin" valueType="num">
                                      <p:cBhvr>
                                        <p:cTn id="8" dur="500" fill="hold"/>
                                        <p:tgtEl>
                                          <p:spTgt spid="2050"/>
                                        </p:tgtEl>
                                        <p:attrNameLst>
                                          <p:attrName>ppt_h</p:attrName>
                                        </p:attrNameLst>
                                      </p:cBhvr>
                                      <p:tavLst>
                                        <p:tav tm="0">
                                          <p:val>
                                            <p:fltVal val="0"/>
                                          </p:val>
                                        </p:tav>
                                        <p:tav tm="100000">
                                          <p:val>
                                            <p:strVal val="#ppt_h"/>
                                          </p:val>
                                        </p:tav>
                                      </p:tavLst>
                                    </p:anim>
                                    <p:animEffect transition="in" filter="fade">
                                      <p:cBhvr>
                                        <p:cTn id="9" dur="500"/>
                                        <p:tgtEl>
                                          <p:spTgt spid="2050"/>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iterate type="lt">
                                    <p:tmPct val="10000"/>
                                  </p:iterate>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mph" presetSubtype="0" fill="hold" nodeType="clickEffect">
                                  <p:stCondLst>
                                    <p:cond delay="0"/>
                                  </p:stCondLst>
                                  <p:childTnLst>
                                    <p:animEffect transition="out" filter="fade">
                                      <p:cBhvr>
                                        <p:cTn id="18" dur="500" tmFilter="0, 0; .2, .5; .8, .5; 1, 0"/>
                                        <p:tgtEl>
                                          <p:spTgt spid="2050"/>
                                        </p:tgtEl>
                                      </p:cBhvr>
                                    </p:animEffect>
                                    <p:animScale>
                                      <p:cBhvr>
                                        <p:cTn id="19" dur="250" autoRev="1" fill="hold"/>
                                        <p:tgtEl>
                                          <p:spTgt spid="205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5896305"/>
            <a:ext cx="12191999" cy="961691"/>
          </a:xfrm>
          <a:prstGeom prst="rect">
            <a:avLst/>
          </a:prstGeom>
        </p:spPr>
      </p:pic>
      <p:pic>
        <p:nvPicPr>
          <p:cNvPr id="3" name="object 3"/>
          <p:cNvPicPr/>
          <p:nvPr/>
        </p:nvPicPr>
        <p:blipFill>
          <a:blip r:embed="rId4" cstate="print"/>
          <a:stretch>
            <a:fillRect/>
          </a:stretch>
        </p:blipFill>
        <p:spPr>
          <a:xfrm>
            <a:off x="0" y="1346"/>
            <a:ext cx="8229600" cy="1079550"/>
          </a:xfrm>
          <a:prstGeom prst="rect">
            <a:avLst/>
          </a:prstGeom>
        </p:spPr>
      </p:pic>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lang="en-US" spc="-155" dirty="0"/>
              <a:t>EMMVEE</a:t>
            </a:r>
            <a:r>
              <a:rPr spc="-5" dirty="0"/>
              <a:t> </a:t>
            </a:r>
            <a:r>
              <a:rPr lang="en-US" spc="-105" dirty="0"/>
              <a:t>Training Session</a:t>
            </a:r>
            <a:endParaRPr spc="-75" dirty="0"/>
          </a:p>
        </p:txBody>
      </p:sp>
      <p:grpSp>
        <p:nvGrpSpPr>
          <p:cNvPr id="5" name="object 5"/>
          <p:cNvGrpSpPr/>
          <p:nvPr/>
        </p:nvGrpSpPr>
        <p:grpSpPr>
          <a:xfrm>
            <a:off x="10747247" y="0"/>
            <a:ext cx="1445260" cy="1414780"/>
            <a:chOff x="10747247" y="0"/>
            <a:chExt cx="1445260" cy="1414780"/>
          </a:xfrm>
        </p:grpSpPr>
        <p:pic>
          <p:nvPicPr>
            <p:cNvPr id="6" name="object 6"/>
            <p:cNvPicPr/>
            <p:nvPr/>
          </p:nvPicPr>
          <p:blipFill>
            <a:blip r:embed="rId5" cstate="print"/>
            <a:stretch>
              <a:fillRect/>
            </a:stretch>
          </p:blipFill>
          <p:spPr>
            <a:xfrm>
              <a:off x="10747247" y="0"/>
              <a:ext cx="1444752" cy="1414272"/>
            </a:xfrm>
            <a:prstGeom prst="rect">
              <a:avLst/>
            </a:prstGeom>
          </p:spPr>
        </p:pic>
        <p:pic>
          <p:nvPicPr>
            <p:cNvPr id="7" name="object 7"/>
            <p:cNvPicPr/>
            <p:nvPr/>
          </p:nvPicPr>
          <p:blipFill>
            <a:blip r:embed="rId6" cstate="print"/>
            <a:stretch>
              <a:fillRect/>
            </a:stretch>
          </p:blipFill>
          <p:spPr>
            <a:xfrm>
              <a:off x="10890884" y="0"/>
              <a:ext cx="1301114" cy="1271397"/>
            </a:xfrm>
            <a:prstGeom prst="rect">
              <a:avLst/>
            </a:prstGeom>
          </p:spPr>
        </p:pic>
      </p:grpSp>
      <p:sp>
        <p:nvSpPr>
          <p:cNvPr id="8" name="AutoShape 2" descr="5 Tips to Make eLearning As Engaging As Classroom Train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 name="Title 1"/>
          <p:cNvSpPr>
            <a:spLocks noGrp="1"/>
          </p:cNvSpPr>
          <p:nvPr/>
        </p:nvSpPr>
        <p:spPr>
          <a:xfrm>
            <a:off x="3733800" y="541120"/>
            <a:ext cx="2743200" cy="5397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500" b="1" dirty="0">
                <a:ln w="1905"/>
                <a:solidFill>
                  <a:schemeClr val="accent6"/>
                </a:solidFill>
                <a:effectLst/>
                <a:latin typeface="Times New Roman" panose="02020603050405020304" pitchFamily="18" charset="0"/>
                <a:cs typeface="Times New Roman" panose="02020603050405020304" pitchFamily="18" charset="0"/>
              </a:rPr>
              <a:t>5s Method</a:t>
            </a:r>
            <a:endParaRPr lang="en-IN" sz="2500" b="1" dirty="0">
              <a:ln w="1905"/>
              <a:solidFill>
                <a:schemeClr val="accent6"/>
              </a:solidFill>
              <a:effectLst/>
              <a:latin typeface="Times New Roman" panose="02020603050405020304" pitchFamily="18" charset="0"/>
              <a:cs typeface="Times New Roman" panose="02020603050405020304" pitchFamily="18" charset="0"/>
            </a:endParaRPr>
          </a:p>
        </p:txBody>
      </p:sp>
      <p:graphicFrame>
        <p:nvGraphicFramePr>
          <p:cNvPr id="9" name="Diagram 8"/>
          <p:cNvGraphicFramePr/>
          <p:nvPr>
            <p:extLst>
              <p:ext uri="{D42A27DB-BD31-4B8C-83A1-F6EECF244321}">
                <p14:modId xmlns:p14="http://schemas.microsoft.com/office/powerpoint/2010/main" val="1072974077"/>
              </p:ext>
            </p:extLst>
          </p:nvPr>
        </p:nvGraphicFramePr>
        <p:xfrm>
          <a:off x="609600" y="1155700"/>
          <a:ext cx="7620000" cy="522145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6" name="Picture 15"/>
          <p:cNvPicPr>
            <a:picLocks noChangeAspect="1"/>
          </p:cNvPicPr>
          <p:nvPr/>
        </p:nvPicPr>
        <p:blipFill rotWithShape="1">
          <a:blip r:embed="rId12" cstate="print">
            <a:extLst>
              <a:ext uri="{28A0092B-C50C-407E-A947-70E740481C1C}">
                <a14:useLocalDpi xmlns:a14="http://schemas.microsoft.com/office/drawing/2010/main" val="0"/>
              </a:ext>
            </a:extLst>
          </a:blip>
          <a:srcRect l="10400" t="6465" r="4826" b="5455"/>
          <a:stretch/>
        </p:blipFill>
        <p:spPr>
          <a:xfrm>
            <a:off x="8327571" y="1816906"/>
            <a:ext cx="3635829" cy="3669494"/>
          </a:xfrm>
          <a:prstGeom prst="ellipse">
            <a:avLst/>
          </a:prstGeom>
          <a:ln>
            <a:noFill/>
          </a:ln>
          <a:effectLst>
            <a:softEdge rad="112500"/>
          </a:effectLst>
        </p:spPr>
      </p:pic>
    </p:spTree>
    <p:custDataLst>
      <p:tags r:id="rId1"/>
    </p:custDataLst>
    <p:extLst>
      <p:ext uri="{BB962C8B-B14F-4D97-AF65-F5344CB8AC3E}">
        <p14:creationId xmlns:p14="http://schemas.microsoft.com/office/powerpoint/2010/main" val="104307992"/>
      </p:ext>
    </p:extLst>
  </p:cSld>
  <p:clrMapOvr>
    <a:masterClrMapping/>
  </p:clrMapOvr>
  <mc:AlternateContent xmlns:mc="http://schemas.openxmlformats.org/markup-compatibility/2006" xmlns:p14="http://schemas.microsoft.com/office/powerpoint/2010/main">
    <mc:Choice Requires="p14">
      <p:transition spd="slow" p14:dur="2000" advTm="26266"/>
    </mc:Choice>
    <mc:Fallback xmlns="">
      <p:transition spd="slow" advTm="2626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5896305"/>
            <a:ext cx="12191999" cy="961691"/>
          </a:xfrm>
          <a:prstGeom prst="rect">
            <a:avLst/>
          </a:prstGeom>
        </p:spPr>
      </p:pic>
      <p:pic>
        <p:nvPicPr>
          <p:cNvPr id="3" name="object 3"/>
          <p:cNvPicPr/>
          <p:nvPr/>
        </p:nvPicPr>
        <p:blipFill>
          <a:blip r:embed="rId4" cstate="print"/>
          <a:stretch>
            <a:fillRect/>
          </a:stretch>
        </p:blipFill>
        <p:spPr>
          <a:xfrm>
            <a:off x="0" y="1346"/>
            <a:ext cx="8229600" cy="1079550"/>
          </a:xfrm>
          <a:prstGeom prst="rect">
            <a:avLst/>
          </a:prstGeom>
        </p:spPr>
      </p:pic>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lang="en-US" spc="-155" dirty="0"/>
              <a:t>EMMVEE</a:t>
            </a:r>
            <a:r>
              <a:rPr spc="-5" dirty="0"/>
              <a:t> </a:t>
            </a:r>
            <a:r>
              <a:rPr lang="en-US" spc="-105" dirty="0"/>
              <a:t>Training Session</a:t>
            </a:r>
            <a:endParaRPr spc="-75" dirty="0"/>
          </a:p>
        </p:txBody>
      </p:sp>
      <p:grpSp>
        <p:nvGrpSpPr>
          <p:cNvPr id="5" name="object 5"/>
          <p:cNvGrpSpPr/>
          <p:nvPr/>
        </p:nvGrpSpPr>
        <p:grpSpPr>
          <a:xfrm>
            <a:off x="10747247" y="0"/>
            <a:ext cx="1445260" cy="1414780"/>
            <a:chOff x="10747247" y="0"/>
            <a:chExt cx="1445260" cy="1414780"/>
          </a:xfrm>
        </p:grpSpPr>
        <p:pic>
          <p:nvPicPr>
            <p:cNvPr id="6" name="object 6"/>
            <p:cNvPicPr/>
            <p:nvPr/>
          </p:nvPicPr>
          <p:blipFill>
            <a:blip r:embed="rId5" cstate="print"/>
            <a:stretch>
              <a:fillRect/>
            </a:stretch>
          </p:blipFill>
          <p:spPr>
            <a:xfrm>
              <a:off x="10747247" y="0"/>
              <a:ext cx="1444752" cy="1414272"/>
            </a:xfrm>
            <a:prstGeom prst="rect">
              <a:avLst/>
            </a:prstGeom>
          </p:spPr>
        </p:pic>
        <p:pic>
          <p:nvPicPr>
            <p:cNvPr id="7" name="object 7"/>
            <p:cNvPicPr/>
            <p:nvPr/>
          </p:nvPicPr>
          <p:blipFill>
            <a:blip r:embed="rId6" cstate="print"/>
            <a:stretch>
              <a:fillRect/>
            </a:stretch>
          </p:blipFill>
          <p:spPr>
            <a:xfrm>
              <a:off x="10890884" y="0"/>
              <a:ext cx="1301114" cy="1271397"/>
            </a:xfrm>
            <a:prstGeom prst="rect">
              <a:avLst/>
            </a:prstGeom>
          </p:spPr>
        </p:pic>
      </p:grpSp>
      <p:sp>
        <p:nvSpPr>
          <p:cNvPr id="8" name="AutoShape 2" descr="5 Tips to Make eLearning As Engaging As Classroom Train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Subtitle 2"/>
          <p:cNvSpPr>
            <a:spLocks noGrp="1"/>
          </p:cNvSpPr>
          <p:nvPr/>
        </p:nvSpPr>
        <p:spPr>
          <a:xfrm>
            <a:off x="279400" y="1219200"/>
            <a:ext cx="11734800" cy="1471803"/>
          </a:xfrm>
          <a:prstGeom prst="rect">
            <a:avLst/>
          </a:prstGeom>
          <a:ln w="9525">
            <a:no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000" b="1" dirty="0">
                <a:solidFill>
                  <a:schemeClr val="tx2"/>
                </a:solidFill>
              </a:rPr>
              <a:t>	5S is a core methodology to lean manufacturing which was first implemented in Toyota's Production System (TPS). This method aims to help factories achieve operational excellence and reduce waste consistently.</a:t>
            </a:r>
            <a:endParaRPr lang="fi-FI" sz="2000" b="1" dirty="0">
              <a:solidFill>
                <a:schemeClr val="tx2"/>
              </a:solidFill>
            </a:endParaRPr>
          </a:p>
          <a:p>
            <a:pPr algn="l"/>
            <a:r>
              <a:rPr lang="en-US" sz="2000" b="1" dirty="0">
                <a:solidFill>
                  <a:schemeClr val="tx2"/>
                </a:solidFill>
              </a:rPr>
              <a:t>	5S is a system for organizing spaces or a place for everything and everything in its place. In Japanese terms 5s stands for  </a:t>
            </a:r>
            <a:r>
              <a:rPr lang="fi-FI" sz="2000" b="1" dirty="0">
                <a:solidFill>
                  <a:schemeClr val="tx2"/>
                </a:solidFill>
              </a:rPr>
              <a:t>seiri (Sort), seiton (Set in order), seiso (Shine), seiketsu (</a:t>
            </a:r>
            <a:r>
              <a:rPr lang="en-IN" sz="2000" b="1" dirty="0">
                <a:solidFill>
                  <a:schemeClr val="tx2"/>
                </a:solidFill>
              </a:rPr>
              <a:t>Standardize</a:t>
            </a:r>
            <a:r>
              <a:rPr lang="fi-FI" sz="2000" b="1" dirty="0">
                <a:solidFill>
                  <a:schemeClr val="tx2"/>
                </a:solidFill>
              </a:rPr>
              <a:t>), and shitsuke (Sustain).</a:t>
            </a:r>
          </a:p>
          <a:p>
            <a:pPr algn="l"/>
            <a:r>
              <a:rPr lang="fi-FI" sz="2000" b="1" dirty="0">
                <a:solidFill>
                  <a:schemeClr val="tx2"/>
                </a:solidFill>
              </a:rPr>
              <a:t> </a:t>
            </a:r>
            <a:endParaRPr lang="en-IN" sz="2000" b="1" dirty="0">
              <a:solidFill>
                <a:schemeClr val="tx2"/>
              </a:solidFill>
            </a:endParaRPr>
          </a:p>
        </p:txBody>
      </p:sp>
      <p:sp>
        <p:nvSpPr>
          <p:cNvPr id="9" name="Rectangle 8"/>
          <p:cNvSpPr/>
          <p:nvPr/>
        </p:nvSpPr>
        <p:spPr>
          <a:xfrm>
            <a:off x="266700" y="3581400"/>
            <a:ext cx="11696700" cy="1981200"/>
          </a:xfrm>
          <a:prstGeom prst="rect">
            <a:avLst/>
          </a:prstGeom>
          <a:ln w="9525">
            <a:no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p>
            <a:pPr algn="l" rtl="0">
              <a:lnSpc>
                <a:spcPct val="150000"/>
              </a:lnSpc>
              <a:spcBef>
                <a:spcPct val="20000"/>
              </a:spcBef>
              <a:buFont typeface="Arial" pitchFamily="34" charset="0"/>
              <a:buNone/>
            </a:pPr>
            <a:r>
              <a:rPr lang="en-IN" sz="1600" b="1" kern="1200" dirty="0">
                <a:solidFill>
                  <a:schemeClr val="tx2"/>
                </a:solidFill>
              </a:rPr>
              <a:t>	5S </a:t>
            </a:r>
            <a:r>
              <a:rPr lang="kn-IN" sz="1600" b="1" kern="1200" dirty="0">
                <a:solidFill>
                  <a:schemeClr val="tx2"/>
                </a:solidFill>
              </a:rPr>
              <a:t>ಎಂಬುದು ಲೀನ್ ಮ್ಯಾನುಫ್ಯಾಕ್ಚರಿಂಗ್‌ಗೆ ಒಂದು ಪ್ರಮುಖ ವಿಧಾನವಾಗಿದೆ, ಇದನ್ನು ಮೊದಲು ಟೊಯೋಟಾದ ಉತ್ಪಾದನಾ ವ್ಯವಸ್ಥೆಯಲ್ಲಿ (</a:t>
            </a:r>
            <a:r>
              <a:rPr lang="en-IN" sz="1600" b="1" kern="1200" dirty="0">
                <a:solidFill>
                  <a:schemeClr val="tx2"/>
                </a:solidFill>
              </a:rPr>
              <a:t>TPS) </a:t>
            </a:r>
            <a:r>
              <a:rPr lang="kn-IN" sz="1600" b="1" kern="1200" dirty="0">
                <a:solidFill>
                  <a:schemeClr val="tx2"/>
                </a:solidFill>
              </a:rPr>
              <a:t>ಅಳವಡಿಸಲಾಗಿದೆ. ಈ ವಿಧಾನವು ಕಾರ್ಖಾನೆಗಳು ಕಾರ್ಯಾಚರಣೆಯ ಶ್ರೇಷ್ಠತೆಯನ್ನು ಸಾಧಿಸಲು ಮತ್ತು ತ್ಯಾಜ್ಯವನ್ನು ಸ್ಥಿರವಾಗಿ ಕಡಿಮೆ ಮಾಡಲು ಸಹಾಯ ಮಾಡುವ ಗುರಿಯನ್ನು ಹೊಂದಿದೆ. </a:t>
            </a:r>
            <a:r>
              <a:rPr lang="en-IN" sz="1600" b="1" kern="1200" dirty="0">
                <a:solidFill>
                  <a:schemeClr val="tx2"/>
                </a:solidFill>
              </a:rPr>
              <a:t>			</a:t>
            </a:r>
            <a:r>
              <a:rPr lang="kn-IN" sz="1600" b="1" kern="1200" dirty="0">
                <a:solidFill>
                  <a:schemeClr val="tx2"/>
                </a:solidFill>
              </a:rPr>
              <a:t>5</a:t>
            </a:r>
            <a:r>
              <a:rPr lang="en-IN" sz="1600" b="1" kern="1200" dirty="0">
                <a:solidFill>
                  <a:schemeClr val="tx2"/>
                </a:solidFill>
              </a:rPr>
              <a:t>S </a:t>
            </a:r>
            <a:r>
              <a:rPr lang="kn-IN" sz="1600" b="1" kern="1200" dirty="0">
                <a:solidFill>
                  <a:schemeClr val="tx2"/>
                </a:solidFill>
              </a:rPr>
              <a:t>ಎನ್ನುವುದು ಸ್ಪೇಸ್‌ಗಳನ್ನು ಸಂಘಟಿಸುವ ವ್ಯವಸ್ಥೆಯಾಗಿದೆ ಅಥವಾ ಅದರ ಸ್ಥಳದಲ್ಲಿ ಪ್ರತಿಯೊಂದಕ್ಕೂ ಮತ್ತು ಎಲ್ಲದಕ್ಕೂ ಒಂದು ಸ್ಥಳವಾಗಿದೆ. ಜಪಾನೀ ಪರಿಭಾಷೆಯಲ್ಲಿ 5</a:t>
            </a:r>
            <a:r>
              <a:rPr lang="en-IN" sz="1600" b="1" kern="1200" dirty="0">
                <a:solidFill>
                  <a:schemeClr val="tx2"/>
                </a:solidFill>
              </a:rPr>
              <a:t>s </a:t>
            </a:r>
            <a:r>
              <a:rPr lang="kn-IN" sz="1600" b="1" kern="1200" dirty="0">
                <a:solidFill>
                  <a:schemeClr val="tx2"/>
                </a:solidFill>
              </a:rPr>
              <a:t>ಎಂದರೆ ಸೀರಿ (ವಿಂಗಡಣೆ), ಸೀಟಾನ್ (ಕ್ರಮದಲ್ಲಿ ಹೊಂದಿಸಿ), ಸೀಸೊ (</a:t>
            </a:r>
            <a:r>
              <a:rPr lang="kn-IN" sz="1600" b="1" dirty="0">
                <a:solidFill>
                  <a:schemeClr val="tx2"/>
                </a:solidFill>
              </a:rPr>
              <a:t>ಹೊಳಪು</a:t>
            </a:r>
            <a:r>
              <a:rPr lang="kn-IN" sz="1600" b="1" kern="1200" dirty="0">
                <a:solidFill>
                  <a:schemeClr val="tx2"/>
                </a:solidFill>
              </a:rPr>
              <a:t>), ಸೀಕೆಟ್ಸು (</a:t>
            </a:r>
            <a:r>
              <a:rPr lang="kn-IN" sz="1600" b="1" dirty="0">
                <a:solidFill>
                  <a:schemeClr val="tx2"/>
                </a:solidFill>
              </a:rPr>
              <a:t>ಪ್ರಮಾಣೀಕರಿಸು</a:t>
            </a:r>
            <a:r>
              <a:rPr lang="kn-IN" sz="1600" b="1" kern="1200" dirty="0">
                <a:solidFill>
                  <a:schemeClr val="tx2"/>
                </a:solidFill>
              </a:rPr>
              <a:t>), ಮತ್ತು ಶಿಟ್ಸುಕ್ (</a:t>
            </a:r>
            <a:r>
              <a:rPr lang="kn-IN" sz="1600" b="1" dirty="0">
                <a:solidFill>
                  <a:schemeClr val="tx2"/>
                </a:solidFill>
              </a:rPr>
              <a:t>ನಿರಂತರವಾಗಿ ಉಳಿಸಿಕೊಳ್ಳು</a:t>
            </a:r>
            <a:r>
              <a:rPr lang="en-IN" sz="1600" b="1" dirty="0">
                <a:solidFill>
                  <a:schemeClr val="tx2"/>
                </a:solidFill>
              </a:rPr>
              <a:t>).</a:t>
            </a:r>
            <a:endParaRPr lang="en-IN" sz="1600" b="1" kern="1200" dirty="0">
              <a:solidFill>
                <a:schemeClr val="tx2"/>
              </a:solidFill>
            </a:endParaRPr>
          </a:p>
        </p:txBody>
      </p:sp>
      <p:sp>
        <p:nvSpPr>
          <p:cNvPr id="13" name="Title 1"/>
          <p:cNvSpPr>
            <a:spLocks noGrp="1"/>
          </p:cNvSpPr>
          <p:nvPr/>
        </p:nvSpPr>
        <p:spPr>
          <a:xfrm>
            <a:off x="3657600" y="541120"/>
            <a:ext cx="3048000" cy="53977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500" b="1" dirty="0">
                <a:ln w="1905"/>
                <a:solidFill>
                  <a:schemeClr val="accent6"/>
                </a:solidFill>
                <a:effectLst/>
                <a:latin typeface="Times New Roman" panose="02020603050405020304" pitchFamily="18" charset="0"/>
                <a:cs typeface="Times New Roman" panose="02020603050405020304" pitchFamily="18" charset="0"/>
              </a:rPr>
              <a:t>INTRODUCTION</a:t>
            </a:r>
            <a:endParaRPr lang="en-IN" sz="2500" b="1" dirty="0">
              <a:ln w="1905"/>
              <a:solidFill>
                <a:schemeClr val="accent6"/>
              </a:solidFill>
              <a:effectLst/>
              <a:latin typeface="Times New Roman" panose="02020603050405020304" pitchFamily="18" charset="0"/>
              <a:cs typeface="Times New Roman" panose="02020603050405020304" pitchFamily="18" charset="0"/>
            </a:endParaRPr>
          </a:p>
        </p:txBody>
      </p:sp>
      <p:cxnSp>
        <p:nvCxnSpPr>
          <p:cNvPr id="16" name="Straight Connector 15"/>
          <p:cNvCxnSpPr/>
          <p:nvPr/>
        </p:nvCxnSpPr>
        <p:spPr>
          <a:xfrm>
            <a:off x="247649" y="3429000"/>
            <a:ext cx="11696700" cy="0"/>
          </a:xfrm>
          <a:prstGeom prst="line">
            <a:avLst/>
          </a:prstGeom>
        </p:spPr>
        <p:style>
          <a:lnRef idx="1">
            <a:schemeClr val="accent6"/>
          </a:lnRef>
          <a:fillRef idx="0">
            <a:schemeClr val="accent6"/>
          </a:fillRef>
          <a:effectRef idx="0">
            <a:schemeClr val="accent6"/>
          </a:effectRef>
          <a:fontRef idx="minor">
            <a:schemeClr val="tx1"/>
          </a:fontRef>
        </p:style>
      </p:cxnSp>
    </p:spTree>
    <p:custDataLst>
      <p:tags r:id="rId1"/>
    </p:custDataLst>
    <p:extLst>
      <p:ext uri="{BB962C8B-B14F-4D97-AF65-F5344CB8AC3E}">
        <p14:creationId xmlns:p14="http://schemas.microsoft.com/office/powerpoint/2010/main" val="1066901646"/>
      </p:ext>
    </p:extLst>
  </p:cSld>
  <p:clrMapOvr>
    <a:masterClrMapping/>
  </p:clrMapOvr>
  <mc:AlternateContent xmlns:mc="http://schemas.openxmlformats.org/markup-compatibility/2006" xmlns:p14="http://schemas.microsoft.com/office/powerpoint/2010/main">
    <mc:Choice Requires="p14">
      <p:transition spd="slow" p14:dur="2000" advTm="10525"/>
    </mc:Choice>
    <mc:Fallback xmlns="">
      <p:transition spd="slow" advTm="1052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5896305"/>
            <a:ext cx="12191999" cy="961691"/>
          </a:xfrm>
          <a:prstGeom prst="rect">
            <a:avLst/>
          </a:prstGeom>
        </p:spPr>
      </p:pic>
      <p:pic>
        <p:nvPicPr>
          <p:cNvPr id="3" name="object 3"/>
          <p:cNvPicPr/>
          <p:nvPr/>
        </p:nvPicPr>
        <p:blipFill>
          <a:blip r:embed="rId4" cstate="print"/>
          <a:stretch>
            <a:fillRect/>
          </a:stretch>
        </p:blipFill>
        <p:spPr>
          <a:xfrm>
            <a:off x="0" y="1346"/>
            <a:ext cx="8229600" cy="1079550"/>
          </a:xfrm>
          <a:prstGeom prst="rect">
            <a:avLst/>
          </a:prstGeom>
        </p:spPr>
      </p:pic>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lang="en-US" spc="-155" dirty="0"/>
              <a:t>EMMVEE</a:t>
            </a:r>
            <a:r>
              <a:rPr spc="-5" dirty="0"/>
              <a:t> </a:t>
            </a:r>
            <a:r>
              <a:rPr lang="en-US" spc="-105" dirty="0"/>
              <a:t>Training Session</a:t>
            </a:r>
            <a:endParaRPr spc="-75" dirty="0"/>
          </a:p>
        </p:txBody>
      </p:sp>
      <p:grpSp>
        <p:nvGrpSpPr>
          <p:cNvPr id="5" name="object 5"/>
          <p:cNvGrpSpPr/>
          <p:nvPr/>
        </p:nvGrpSpPr>
        <p:grpSpPr>
          <a:xfrm>
            <a:off x="10747247" y="0"/>
            <a:ext cx="1445260" cy="1414780"/>
            <a:chOff x="10747247" y="0"/>
            <a:chExt cx="1445260" cy="1414780"/>
          </a:xfrm>
        </p:grpSpPr>
        <p:pic>
          <p:nvPicPr>
            <p:cNvPr id="6" name="object 6"/>
            <p:cNvPicPr/>
            <p:nvPr/>
          </p:nvPicPr>
          <p:blipFill>
            <a:blip r:embed="rId5" cstate="print"/>
            <a:stretch>
              <a:fillRect/>
            </a:stretch>
          </p:blipFill>
          <p:spPr>
            <a:xfrm>
              <a:off x="10747247" y="0"/>
              <a:ext cx="1444752" cy="1414272"/>
            </a:xfrm>
            <a:prstGeom prst="rect">
              <a:avLst/>
            </a:prstGeom>
          </p:spPr>
        </p:pic>
        <p:pic>
          <p:nvPicPr>
            <p:cNvPr id="7" name="object 7"/>
            <p:cNvPicPr/>
            <p:nvPr/>
          </p:nvPicPr>
          <p:blipFill>
            <a:blip r:embed="rId6" cstate="print"/>
            <a:stretch>
              <a:fillRect/>
            </a:stretch>
          </p:blipFill>
          <p:spPr>
            <a:xfrm>
              <a:off x="10890884" y="0"/>
              <a:ext cx="1301114" cy="1271397"/>
            </a:xfrm>
            <a:prstGeom prst="rect">
              <a:avLst/>
            </a:prstGeom>
          </p:spPr>
        </p:pic>
      </p:grpSp>
      <p:sp>
        <p:nvSpPr>
          <p:cNvPr id="8" name="AutoShape 2" descr="5 Tips to Make eLearning As Engaging As Classroom Train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Title 1"/>
          <p:cNvSpPr>
            <a:spLocks noGrp="1"/>
          </p:cNvSpPr>
          <p:nvPr/>
        </p:nvSpPr>
        <p:spPr>
          <a:xfrm>
            <a:off x="3657600" y="541120"/>
            <a:ext cx="3048000" cy="53977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500" b="1" dirty="0">
                <a:ln w="1905"/>
                <a:solidFill>
                  <a:schemeClr val="accent6"/>
                </a:solidFill>
                <a:effectLst/>
                <a:latin typeface="Times New Roman" panose="02020603050405020304" pitchFamily="18" charset="0"/>
                <a:cs typeface="Times New Roman" panose="02020603050405020304" pitchFamily="18" charset="0"/>
              </a:rPr>
              <a:t>EXAMPLES</a:t>
            </a:r>
            <a:endParaRPr lang="en-IN" sz="2500" b="1" dirty="0">
              <a:ln w="1905"/>
              <a:solidFill>
                <a:schemeClr val="accent6"/>
              </a:solidFill>
              <a:effectLst/>
              <a:latin typeface="Times New Roman" panose="02020603050405020304" pitchFamily="18" charset="0"/>
              <a:cs typeface="Times New Roman" panose="02020603050405020304" pitchFamily="18" charset="0"/>
            </a:endParaRPr>
          </a:p>
        </p:txBody>
      </p:sp>
      <p:sp>
        <p:nvSpPr>
          <p:cNvPr id="25" name="Subtitle 2"/>
          <p:cNvSpPr>
            <a:spLocks noGrp="1"/>
          </p:cNvSpPr>
          <p:nvPr/>
        </p:nvSpPr>
        <p:spPr>
          <a:xfrm>
            <a:off x="307975" y="1080895"/>
            <a:ext cx="11426826" cy="1433703"/>
          </a:xfrm>
          <a:prstGeom prst="rect">
            <a:avLst/>
          </a:prstGeom>
          <a:ln w="9525">
            <a:no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1800" b="1" dirty="0">
                <a:solidFill>
                  <a:schemeClr val="tx2"/>
                </a:solidFill>
              </a:rPr>
              <a:t>“A place for everything and everything in its place” (Defined place) and abnormity rule. If we to need to placing before any thing into a place we need to define it properly and following the abnormality role.</a:t>
            </a:r>
          </a:p>
          <a:p>
            <a:pPr algn="l"/>
            <a:r>
              <a:rPr lang="en-IN" sz="1600" b="1" dirty="0">
                <a:solidFill>
                  <a:schemeClr val="tx2"/>
                </a:solidFill>
              </a:rPr>
              <a:t>	</a:t>
            </a:r>
            <a:r>
              <a:rPr lang="kn-IN" sz="1600" b="1" dirty="0">
                <a:solidFill>
                  <a:schemeClr val="tx2"/>
                </a:solidFill>
              </a:rPr>
              <a:t>"ಎಲ್ಲದಕ್ಕೂ ಒಂದು ಸ್ಥಳ ಮತ್ತು ಅದರ ಸ್ಥಳದಲ್ಲಿ ಪ್ರತಿಯೊಂದಕ್ಕೂ" (ವ್ಯಾಖ್ಯಾನಿಸಿದ ಸ್ಥಳ) ಮತ್ತು ಅಸಹಜತೆಯ ನಿಯಮ. ನಾವು ಯಾವುದೇ ವಿಷಯವನ್ನು ಮೊದಲು ಸ್ಥಳದಲ್ಲಿ ಇರಿಸಬೇಕಾದರೆ ಅದನ್ನು ಸರಿಯಾಗಿ ವ್ಯಾಖ್ಯಾನಿಸಬೇಕು ಮತ್ತು ಅಸಹಜತೆಯ ಪಾತ್ರವನ್ನು ಅನುಸರಿಸಬೇಕು.</a:t>
            </a:r>
            <a:endParaRPr lang="en-US" sz="1600" b="1" dirty="0">
              <a:solidFill>
                <a:schemeClr val="tx2"/>
              </a:solidFill>
            </a:endParaRPr>
          </a:p>
          <a:p>
            <a:pPr algn="l"/>
            <a:endParaRPr lang="en-IN" sz="1600" b="1" dirty="0">
              <a:solidFill>
                <a:schemeClr val="tx2"/>
              </a:solidFill>
            </a:endParaRPr>
          </a:p>
        </p:txBody>
      </p:sp>
      <p:sp>
        <p:nvSpPr>
          <p:cNvPr id="12" name="Rounded Rectangle 11"/>
          <p:cNvSpPr/>
          <p:nvPr/>
        </p:nvSpPr>
        <p:spPr>
          <a:xfrm>
            <a:off x="1519714" y="2514599"/>
            <a:ext cx="2819400" cy="3810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IN" b="1" dirty="0">
                <a:latin typeface="Times New Roman" panose="02020603050405020304" pitchFamily="18" charset="0"/>
                <a:cs typeface="Times New Roman" panose="02020603050405020304" pitchFamily="18" charset="0"/>
              </a:rPr>
              <a:t>EXAMPLE 01</a:t>
            </a:r>
          </a:p>
        </p:txBody>
      </p:sp>
      <p:sp>
        <p:nvSpPr>
          <p:cNvPr id="33" name="Rounded Rectangle 32"/>
          <p:cNvSpPr/>
          <p:nvPr/>
        </p:nvSpPr>
        <p:spPr>
          <a:xfrm>
            <a:off x="7737764" y="2514599"/>
            <a:ext cx="2819400" cy="3810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IN" b="1" dirty="0">
                <a:latin typeface="Times New Roman" panose="02020603050405020304" pitchFamily="18" charset="0"/>
                <a:cs typeface="Times New Roman" panose="02020603050405020304" pitchFamily="18" charset="0"/>
              </a:rPr>
              <a:t>EXAMPLE 02</a:t>
            </a:r>
          </a:p>
        </p:txBody>
      </p:sp>
      <p:pic>
        <p:nvPicPr>
          <p:cNvPr id="34" name="Picture 33"/>
          <p:cNvPicPr>
            <a:picLocks noChangeAspect="1"/>
          </p:cNvPicPr>
          <p:nvPr/>
        </p:nvPicPr>
        <p:blipFill rotWithShape="1">
          <a:blip r:embed="rId7" cstate="print">
            <a:extLst>
              <a:ext uri="{28A0092B-C50C-407E-A947-70E740481C1C}">
                <a14:useLocalDpi xmlns:a14="http://schemas.microsoft.com/office/drawing/2010/main" val="0"/>
              </a:ext>
            </a:extLst>
          </a:blip>
          <a:srcRect t="33536" b="33232"/>
          <a:stretch/>
        </p:blipFill>
        <p:spPr>
          <a:xfrm>
            <a:off x="225900" y="3047999"/>
            <a:ext cx="3050699" cy="2667001"/>
          </a:xfrm>
          <a:prstGeom prst="rect">
            <a:avLst/>
          </a:prstGeom>
        </p:spPr>
      </p:pic>
      <p:pic>
        <p:nvPicPr>
          <p:cNvPr id="35" name="Picture 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352800" y="3047999"/>
            <a:ext cx="3044340" cy="2667001"/>
          </a:xfrm>
          <a:prstGeom prst="rect">
            <a:avLst/>
          </a:prstGeom>
        </p:spPr>
      </p:pic>
      <p:sp>
        <p:nvSpPr>
          <p:cNvPr id="36" name="Subtitle 2"/>
          <p:cNvSpPr>
            <a:spLocks noGrp="1"/>
          </p:cNvSpPr>
          <p:nvPr/>
        </p:nvSpPr>
        <p:spPr>
          <a:xfrm>
            <a:off x="585066" y="5711535"/>
            <a:ext cx="2081934" cy="460665"/>
          </a:xfrm>
          <a:prstGeom prst="rect">
            <a:avLst/>
          </a:prstGeom>
          <a:ln w="9525">
            <a:no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000" b="1" dirty="0">
                <a:solidFill>
                  <a:srgbClr val="C00000"/>
                </a:solidFill>
              </a:rPr>
              <a:t>Before not sorted</a:t>
            </a:r>
            <a:endParaRPr lang="en-IN" sz="2000" b="1" dirty="0">
              <a:solidFill>
                <a:srgbClr val="C00000"/>
              </a:solidFill>
            </a:endParaRPr>
          </a:p>
        </p:txBody>
      </p:sp>
      <p:sp>
        <p:nvSpPr>
          <p:cNvPr id="39" name="Subtitle 2"/>
          <p:cNvSpPr>
            <a:spLocks noGrp="1"/>
          </p:cNvSpPr>
          <p:nvPr/>
        </p:nvSpPr>
        <p:spPr>
          <a:xfrm>
            <a:off x="3937866" y="5711535"/>
            <a:ext cx="2081934" cy="460665"/>
          </a:xfrm>
          <a:prstGeom prst="rect">
            <a:avLst/>
          </a:prstGeom>
          <a:ln w="9525">
            <a:no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IN" sz="2000" b="1" dirty="0">
                <a:solidFill>
                  <a:srgbClr val="00B050"/>
                </a:solidFill>
              </a:rPr>
              <a:t>After sorting</a:t>
            </a:r>
          </a:p>
        </p:txBody>
      </p:sp>
      <p:pic>
        <p:nvPicPr>
          <p:cNvPr id="40" name="Picture 3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124474" y="3048000"/>
            <a:ext cx="4457926" cy="2667000"/>
          </a:xfrm>
          <a:prstGeom prst="rect">
            <a:avLst/>
          </a:prstGeom>
        </p:spPr>
      </p:pic>
      <p:sp>
        <p:nvSpPr>
          <p:cNvPr id="41" name="Subtitle 2"/>
          <p:cNvSpPr>
            <a:spLocks noGrp="1"/>
          </p:cNvSpPr>
          <p:nvPr/>
        </p:nvSpPr>
        <p:spPr>
          <a:xfrm>
            <a:off x="6629400" y="5562601"/>
            <a:ext cx="2081934" cy="460665"/>
          </a:xfrm>
          <a:prstGeom prst="rect">
            <a:avLst/>
          </a:prstGeom>
          <a:ln w="9525">
            <a:no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000" b="1" dirty="0">
                <a:solidFill>
                  <a:srgbClr val="C00000"/>
                </a:solidFill>
              </a:rPr>
              <a:t>Before not sorted</a:t>
            </a:r>
            <a:endParaRPr lang="en-IN" sz="2000" b="1" dirty="0">
              <a:solidFill>
                <a:srgbClr val="C00000"/>
              </a:solidFill>
            </a:endParaRPr>
          </a:p>
        </p:txBody>
      </p:sp>
      <p:sp>
        <p:nvSpPr>
          <p:cNvPr id="42" name="Subtitle 2"/>
          <p:cNvSpPr>
            <a:spLocks noGrp="1"/>
          </p:cNvSpPr>
          <p:nvPr/>
        </p:nvSpPr>
        <p:spPr>
          <a:xfrm>
            <a:off x="9982200" y="5562601"/>
            <a:ext cx="2081934" cy="460665"/>
          </a:xfrm>
          <a:prstGeom prst="rect">
            <a:avLst/>
          </a:prstGeom>
          <a:ln w="9525">
            <a:no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IN" sz="2000" b="1" dirty="0">
                <a:solidFill>
                  <a:srgbClr val="00B050"/>
                </a:solidFill>
              </a:rPr>
              <a:t>After sorting</a:t>
            </a:r>
          </a:p>
        </p:txBody>
      </p:sp>
    </p:spTree>
    <p:custDataLst>
      <p:tags r:id="rId1"/>
    </p:custDataLst>
    <p:extLst>
      <p:ext uri="{BB962C8B-B14F-4D97-AF65-F5344CB8AC3E}">
        <p14:creationId xmlns:p14="http://schemas.microsoft.com/office/powerpoint/2010/main" val="197562390"/>
      </p:ext>
    </p:extLst>
  </p:cSld>
  <p:clrMapOvr>
    <a:masterClrMapping/>
  </p:clrMapOvr>
  <mc:AlternateContent xmlns:mc="http://schemas.openxmlformats.org/markup-compatibility/2006" xmlns:p14="http://schemas.microsoft.com/office/powerpoint/2010/main">
    <mc:Choice Requires="p14">
      <p:transition spd="slow" p14:dur="2000" advTm="10525"/>
    </mc:Choice>
    <mc:Fallback xmlns="">
      <p:transition spd="slow" advTm="1052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5896305"/>
            <a:ext cx="12191999" cy="961691"/>
          </a:xfrm>
          <a:prstGeom prst="rect">
            <a:avLst/>
          </a:prstGeom>
        </p:spPr>
      </p:pic>
      <p:pic>
        <p:nvPicPr>
          <p:cNvPr id="3" name="object 3"/>
          <p:cNvPicPr/>
          <p:nvPr/>
        </p:nvPicPr>
        <p:blipFill>
          <a:blip r:embed="rId4" cstate="print"/>
          <a:stretch>
            <a:fillRect/>
          </a:stretch>
        </p:blipFill>
        <p:spPr>
          <a:xfrm>
            <a:off x="0" y="1346"/>
            <a:ext cx="8229600" cy="1079550"/>
          </a:xfrm>
          <a:prstGeom prst="rect">
            <a:avLst/>
          </a:prstGeom>
        </p:spPr>
      </p:pic>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lang="en-US" spc="-155" dirty="0"/>
              <a:t>EMMVEE</a:t>
            </a:r>
            <a:r>
              <a:rPr spc="-5" dirty="0"/>
              <a:t> </a:t>
            </a:r>
            <a:r>
              <a:rPr lang="en-US" spc="-105" dirty="0"/>
              <a:t>Training Session</a:t>
            </a:r>
            <a:endParaRPr spc="-75" dirty="0"/>
          </a:p>
        </p:txBody>
      </p:sp>
      <p:grpSp>
        <p:nvGrpSpPr>
          <p:cNvPr id="5" name="object 5"/>
          <p:cNvGrpSpPr/>
          <p:nvPr/>
        </p:nvGrpSpPr>
        <p:grpSpPr>
          <a:xfrm>
            <a:off x="10747247" y="0"/>
            <a:ext cx="1445260" cy="1414780"/>
            <a:chOff x="10747247" y="0"/>
            <a:chExt cx="1445260" cy="1414780"/>
          </a:xfrm>
        </p:grpSpPr>
        <p:pic>
          <p:nvPicPr>
            <p:cNvPr id="6" name="object 6"/>
            <p:cNvPicPr/>
            <p:nvPr/>
          </p:nvPicPr>
          <p:blipFill>
            <a:blip r:embed="rId5" cstate="print"/>
            <a:stretch>
              <a:fillRect/>
            </a:stretch>
          </p:blipFill>
          <p:spPr>
            <a:xfrm>
              <a:off x="10747247" y="0"/>
              <a:ext cx="1444752" cy="1414272"/>
            </a:xfrm>
            <a:prstGeom prst="rect">
              <a:avLst/>
            </a:prstGeom>
          </p:spPr>
        </p:pic>
        <p:pic>
          <p:nvPicPr>
            <p:cNvPr id="7" name="object 7"/>
            <p:cNvPicPr/>
            <p:nvPr/>
          </p:nvPicPr>
          <p:blipFill>
            <a:blip r:embed="rId6" cstate="print"/>
            <a:stretch>
              <a:fillRect/>
            </a:stretch>
          </p:blipFill>
          <p:spPr>
            <a:xfrm>
              <a:off x="10890884" y="0"/>
              <a:ext cx="1301114" cy="1271397"/>
            </a:xfrm>
            <a:prstGeom prst="rect">
              <a:avLst/>
            </a:prstGeom>
          </p:spPr>
        </p:pic>
      </p:grpSp>
      <p:sp>
        <p:nvSpPr>
          <p:cNvPr id="8" name="AutoShape 2" descr="5 Tips to Make eLearning As Engaging As Classroom Train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Title 1"/>
          <p:cNvSpPr>
            <a:spLocks noGrp="1"/>
          </p:cNvSpPr>
          <p:nvPr/>
        </p:nvSpPr>
        <p:spPr>
          <a:xfrm>
            <a:off x="3657600" y="541120"/>
            <a:ext cx="3048000" cy="53977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500" b="1" dirty="0">
                <a:ln w="1905"/>
                <a:solidFill>
                  <a:schemeClr val="accent6"/>
                </a:solidFill>
                <a:effectLst/>
                <a:latin typeface="Times New Roman" panose="02020603050405020304" pitchFamily="18" charset="0"/>
                <a:cs typeface="Times New Roman" panose="02020603050405020304" pitchFamily="18" charset="0"/>
              </a:rPr>
              <a:t>SORTING</a:t>
            </a:r>
            <a:endParaRPr lang="en-IN" sz="2500" b="1" dirty="0">
              <a:ln w="1905"/>
              <a:solidFill>
                <a:schemeClr val="accent6"/>
              </a:solidFill>
              <a:effectLst/>
              <a:latin typeface="Times New Roman" panose="02020603050405020304" pitchFamily="18" charset="0"/>
              <a:cs typeface="Times New Roman" panose="02020603050405020304" pitchFamily="18" charset="0"/>
            </a:endParaRPr>
          </a:p>
        </p:txBody>
      </p:sp>
      <p:sp>
        <p:nvSpPr>
          <p:cNvPr id="20" name="Subtitle 2"/>
          <p:cNvSpPr>
            <a:spLocks noGrp="1"/>
          </p:cNvSpPr>
          <p:nvPr/>
        </p:nvSpPr>
        <p:spPr>
          <a:xfrm>
            <a:off x="307975" y="1080896"/>
            <a:ext cx="11655425" cy="1909729"/>
          </a:xfrm>
          <a:prstGeom prst="rect">
            <a:avLst/>
          </a:prstGeom>
          <a:noFill/>
          <a:ln w="9525">
            <a:no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1800" b="1" dirty="0">
                <a:solidFill>
                  <a:schemeClr val="accent6"/>
                </a:solidFill>
                <a:latin typeface="Times New Roman" panose="02020603050405020304" pitchFamily="18" charset="0"/>
                <a:cs typeface="Times New Roman" panose="02020603050405020304" pitchFamily="18" charset="0"/>
              </a:rPr>
              <a:t>Sorting (</a:t>
            </a:r>
            <a:r>
              <a:rPr lang="fi-FI" sz="1800" b="1" dirty="0">
                <a:solidFill>
                  <a:schemeClr val="accent6"/>
                </a:solidFill>
                <a:latin typeface="Times New Roman" panose="02020603050405020304" pitchFamily="18" charset="0"/>
                <a:cs typeface="Times New Roman" panose="02020603050405020304" pitchFamily="18" charset="0"/>
              </a:rPr>
              <a:t>seiri) </a:t>
            </a:r>
            <a:r>
              <a:rPr lang="en-US" sz="1800" b="1" dirty="0">
                <a:solidFill>
                  <a:schemeClr val="accent6"/>
                </a:solidFill>
                <a:latin typeface="Times New Roman" panose="02020603050405020304" pitchFamily="18" charset="0"/>
                <a:cs typeface="Times New Roman" panose="02020603050405020304" pitchFamily="18" charset="0"/>
              </a:rPr>
              <a:t>: </a:t>
            </a:r>
            <a:r>
              <a:rPr lang="en-US" sz="1600" b="1" dirty="0">
                <a:solidFill>
                  <a:schemeClr val="tx2"/>
                </a:solidFill>
              </a:rPr>
              <a:t>The first step in the 5S process is Sort, or “seiri,” which translates to “tidiness.” The goal of the Sort step is to eliminate clutter and clear up space by removing things that don't belong in the area. In simple way removing unwanted things from work area and placing required materials in a order for process. </a:t>
            </a:r>
          </a:p>
          <a:p>
            <a:pPr algn="l"/>
            <a:r>
              <a:rPr lang="kn-IN" sz="1400" b="1" dirty="0">
                <a:solidFill>
                  <a:schemeClr val="accent6"/>
                </a:solidFill>
              </a:rPr>
              <a:t>ವಿಂಗಡಣೆ (ಸೀರಿ) </a:t>
            </a:r>
            <a:r>
              <a:rPr lang="kn-IN" sz="1400" dirty="0">
                <a:solidFill>
                  <a:schemeClr val="accent6"/>
                </a:solidFill>
              </a:rPr>
              <a:t>: </a:t>
            </a:r>
            <a:r>
              <a:rPr lang="kn-IN" sz="1400" dirty="0">
                <a:solidFill>
                  <a:schemeClr val="tx2"/>
                </a:solidFill>
              </a:rPr>
              <a:t>5S ಪ್ರಕ್ರಿಯೆಯಲ್ಲಿ ಮೊದಲ ಹಂತವೆಂದರೆ ವಿಂಗಡಿಸು, ಅಥವಾ "ಸೀರಿ", ಇದು "ಅಚ್ಚುಕಟ್ಟಾಗಿ" ಎಂದು ಅನುವಾದಿಸುತ್ತದೆ. ವಿಂಗಡಣೆ ಹಂತದ ಗುರಿಯು ಅಸ್ತವ್ಯಸ್ತತೆಯನ್ನು ತೊಡೆದುಹಾಕುವುದು ಮತ್ತು ಪ್ರದೇಶದಲ್ಲಿ ಸೇರದ ವಸ್ತುಗಳನ್ನು ತೆಗೆದುಹಾಕುವ ಮೂಲಕ ಜಾಗವನ್ನು ತೆರವುಗೊಳಿಸುವುದು. ಸರಳ ರೀತಿಯಲ್ಲಿ ಕೆಲಸದ ಪ್ರದೇಶದಿಂದ ಅನಗತ್ಯ ವಸ್ತುಗಳನ್ನು ತೆಗೆದುಹಾಕುವುದು ಮತ್ತು ಪ್ರಕ್ರಿಯೆಗೆ ಅಗತ್ಯವಿರುವ ವಸ್ತುಗಳನ್ನು ಇರಿಸುವುದು.</a:t>
            </a:r>
            <a:endParaRPr lang="en-US" sz="1200" dirty="0">
              <a:solidFill>
                <a:schemeClr val="tx2"/>
              </a:solidFill>
            </a:endParaRPr>
          </a:p>
        </p:txBody>
      </p:sp>
      <p:pic>
        <p:nvPicPr>
          <p:cNvPr id="21" name="Picture 2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99989" y="4372229"/>
            <a:ext cx="4269634" cy="1371600"/>
          </a:xfrm>
          <a:prstGeom prst="rect">
            <a:avLst/>
          </a:prstGeom>
        </p:spPr>
      </p:pic>
      <p:pic>
        <p:nvPicPr>
          <p:cNvPr id="22" name="Picture 2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99989" y="3048000"/>
            <a:ext cx="4269634" cy="1216902"/>
          </a:xfrm>
          <a:prstGeom prst="rect">
            <a:avLst/>
          </a:prstGeom>
        </p:spPr>
      </p:pic>
      <p:pic>
        <p:nvPicPr>
          <p:cNvPr id="23" name="Picture 2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07434" y="3042821"/>
            <a:ext cx="6069566" cy="3357979"/>
          </a:xfrm>
          <a:prstGeom prst="rect">
            <a:avLst/>
          </a:prstGeom>
        </p:spPr>
      </p:pic>
    </p:spTree>
    <p:custDataLst>
      <p:tags r:id="rId1"/>
    </p:custDataLst>
    <p:extLst>
      <p:ext uri="{BB962C8B-B14F-4D97-AF65-F5344CB8AC3E}">
        <p14:creationId xmlns:p14="http://schemas.microsoft.com/office/powerpoint/2010/main" val="946883945"/>
      </p:ext>
    </p:extLst>
  </p:cSld>
  <p:clrMapOvr>
    <a:masterClrMapping/>
  </p:clrMapOvr>
  <mc:AlternateContent xmlns:mc="http://schemas.openxmlformats.org/markup-compatibility/2006" xmlns:p14="http://schemas.microsoft.com/office/powerpoint/2010/main">
    <mc:Choice Requires="p14">
      <p:transition spd="slow" p14:dur="2000" advTm="10525"/>
    </mc:Choice>
    <mc:Fallback xmlns="">
      <p:transition spd="slow" advTm="1052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5896305"/>
            <a:ext cx="12191999" cy="961691"/>
          </a:xfrm>
          <a:prstGeom prst="rect">
            <a:avLst/>
          </a:prstGeom>
        </p:spPr>
      </p:pic>
      <p:pic>
        <p:nvPicPr>
          <p:cNvPr id="3" name="object 3"/>
          <p:cNvPicPr/>
          <p:nvPr/>
        </p:nvPicPr>
        <p:blipFill>
          <a:blip r:embed="rId4" cstate="print"/>
          <a:stretch>
            <a:fillRect/>
          </a:stretch>
        </p:blipFill>
        <p:spPr>
          <a:xfrm>
            <a:off x="0" y="1346"/>
            <a:ext cx="8229600" cy="1079550"/>
          </a:xfrm>
          <a:prstGeom prst="rect">
            <a:avLst/>
          </a:prstGeom>
        </p:spPr>
      </p:pic>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lang="en-US" spc="-155" dirty="0"/>
              <a:t>EMMVEE</a:t>
            </a:r>
            <a:r>
              <a:rPr spc="-5" dirty="0"/>
              <a:t> </a:t>
            </a:r>
            <a:r>
              <a:rPr lang="en-US" spc="-105" dirty="0"/>
              <a:t>Training Session</a:t>
            </a:r>
            <a:endParaRPr spc="-75" dirty="0"/>
          </a:p>
        </p:txBody>
      </p:sp>
      <p:grpSp>
        <p:nvGrpSpPr>
          <p:cNvPr id="5" name="object 5"/>
          <p:cNvGrpSpPr/>
          <p:nvPr/>
        </p:nvGrpSpPr>
        <p:grpSpPr>
          <a:xfrm>
            <a:off x="10747247" y="0"/>
            <a:ext cx="1445260" cy="1414780"/>
            <a:chOff x="10747247" y="0"/>
            <a:chExt cx="1445260" cy="1414780"/>
          </a:xfrm>
        </p:grpSpPr>
        <p:pic>
          <p:nvPicPr>
            <p:cNvPr id="6" name="object 6"/>
            <p:cNvPicPr/>
            <p:nvPr/>
          </p:nvPicPr>
          <p:blipFill>
            <a:blip r:embed="rId5" cstate="print"/>
            <a:stretch>
              <a:fillRect/>
            </a:stretch>
          </p:blipFill>
          <p:spPr>
            <a:xfrm>
              <a:off x="10747247" y="0"/>
              <a:ext cx="1444752" cy="1414272"/>
            </a:xfrm>
            <a:prstGeom prst="rect">
              <a:avLst/>
            </a:prstGeom>
          </p:spPr>
        </p:pic>
        <p:pic>
          <p:nvPicPr>
            <p:cNvPr id="7" name="object 7"/>
            <p:cNvPicPr/>
            <p:nvPr/>
          </p:nvPicPr>
          <p:blipFill>
            <a:blip r:embed="rId6" cstate="print"/>
            <a:stretch>
              <a:fillRect/>
            </a:stretch>
          </p:blipFill>
          <p:spPr>
            <a:xfrm>
              <a:off x="10890884" y="0"/>
              <a:ext cx="1301114" cy="1271397"/>
            </a:xfrm>
            <a:prstGeom prst="rect">
              <a:avLst/>
            </a:prstGeom>
          </p:spPr>
        </p:pic>
      </p:grpSp>
      <p:sp>
        <p:nvSpPr>
          <p:cNvPr id="8" name="AutoShape 2" descr="5 Tips to Make eLearning As Engaging As Classroom Train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Title 1"/>
          <p:cNvSpPr>
            <a:spLocks noGrp="1"/>
          </p:cNvSpPr>
          <p:nvPr/>
        </p:nvSpPr>
        <p:spPr>
          <a:xfrm>
            <a:off x="3657600" y="541120"/>
            <a:ext cx="3048000" cy="53977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500" b="1" dirty="0">
                <a:ln w="1905"/>
                <a:solidFill>
                  <a:schemeClr val="accent6"/>
                </a:solidFill>
                <a:effectLst/>
                <a:latin typeface="Times New Roman" panose="02020603050405020304" pitchFamily="18" charset="0"/>
                <a:cs typeface="Times New Roman" panose="02020603050405020304" pitchFamily="18" charset="0"/>
              </a:rPr>
              <a:t>Set in order</a:t>
            </a:r>
            <a:endParaRPr lang="en-IN" sz="2500" b="1" dirty="0">
              <a:ln w="1905"/>
              <a:solidFill>
                <a:schemeClr val="accent6"/>
              </a:solidFill>
              <a:effectLst/>
              <a:latin typeface="Times New Roman" panose="02020603050405020304" pitchFamily="18" charset="0"/>
              <a:cs typeface="Times New Roman" panose="02020603050405020304" pitchFamily="18" charset="0"/>
            </a:endParaRPr>
          </a:p>
        </p:txBody>
      </p:sp>
      <p:sp>
        <p:nvSpPr>
          <p:cNvPr id="11" name="Subtitle 2"/>
          <p:cNvSpPr>
            <a:spLocks noGrp="1"/>
          </p:cNvSpPr>
          <p:nvPr/>
        </p:nvSpPr>
        <p:spPr>
          <a:xfrm>
            <a:off x="304800" y="1143000"/>
            <a:ext cx="11503024" cy="1776603"/>
          </a:xfrm>
          <a:prstGeom prst="rect">
            <a:avLst/>
          </a:prstGeom>
          <a:ln w="9525">
            <a:no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1800" b="1" dirty="0">
                <a:solidFill>
                  <a:schemeClr val="accent6"/>
                </a:solidFill>
                <a:latin typeface="Times New Roman" panose="02020603050405020304" pitchFamily="18" charset="0"/>
                <a:cs typeface="Times New Roman" panose="02020603050405020304" pitchFamily="18" charset="0"/>
              </a:rPr>
              <a:t>Set in Order (Seiton) : </a:t>
            </a:r>
            <a:r>
              <a:rPr lang="en-US" sz="1800" b="1" dirty="0">
                <a:solidFill>
                  <a:schemeClr val="tx2"/>
                </a:solidFill>
              </a:rPr>
              <a:t>Take everything deemed essential in the previous step and place them back into the workstation in a well-organized manner. The goal of Set in Order is to create a standardized and consistent way to place and retrieve everything necessary for the job. The key is standardization.</a:t>
            </a:r>
          </a:p>
          <a:p>
            <a:pPr algn="l"/>
            <a:r>
              <a:rPr lang="kn-IN" sz="1600" dirty="0">
                <a:solidFill>
                  <a:schemeClr val="accent6"/>
                </a:solidFill>
              </a:rPr>
              <a:t>ಕ್ರಮದಲ್ಲಿ ಹೊಂದಿಸಿ (ಸೀಟನ್) : </a:t>
            </a:r>
            <a:r>
              <a:rPr lang="kn-IN" sz="1600" dirty="0">
                <a:solidFill>
                  <a:schemeClr val="tx2"/>
                </a:solidFill>
              </a:rPr>
              <a:t>ಹಿಂದಿನ ಹಂತದಲ್ಲಿ ಅಗತ್ಯವೆಂದು ಪರಿಗಣಿಸಲಾದ ಎಲ್ಲವನ್ನೂ ತೆಗೆದುಕೊಳ್ಳಿ ಮತ್ತು ಅವುಗಳನ್ನು ಸುಸಂಘಟಿತ ರೀತಿಯಲ್ಲಿ ಕಾರ್ಯಸ್ಥಳಕ್ಕೆ ಹಿಂತಿರುಗಿಸಿ. ಕೆಲಸಕ್ಕೆ ಅಗತ್ಯವಿರುವ ಎಲ್ಲವನ್ನೂ ಇರಿಸಲು ಮತ್ತು ಹಿಂಪಡೆಯಲು ಪ್ರಮಾಣಿತ ಮತ್ತು ಸ್ಥಿರವಾದ ಮಾರ್ಗವನ್ನು ರಚಿಸುವುದು ಸೆಟ್ ಇನ್ ಆರ್ಡರ್‌ನ ಗುರಿಯಾಗಿದೆ. ಪ್ರಮುಖ ಪ್ರಮಾಣೀಕರಣವಾಗಿದೆ.</a:t>
            </a:r>
            <a:endParaRPr lang="en-IN" sz="1600" dirty="0">
              <a:solidFill>
                <a:schemeClr val="tx2"/>
              </a:solidFill>
            </a:endParaRPr>
          </a:p>
          <a:p>
            <a:pPr algn="l"/>
            <a:endParaRPr lang="en-US" sz="1800" b="1" dirty="0">
              <a:solidFill>
                <a:schemeClr val="tx2"/>
              </a:solidFill>
            </a:endParaRPr>
          </a:p>
        </p:txBody>
      </p:sp>
      <p:pic>
        <p:nvPicPr>
          <p:cNvPr id="12" name="Picture 11"/>
          <p:cNvPicPr>
            <a:picLocks noChangeAspect="1"/>
          </p:cNvPicPr>
          <p:nvPr/>
        </p:nvPicPr>
        <p:blipFill rotWithShape="1">
          <a:blip r:embed="rId7" cstate="print">
            <a:extLst>
              <a:ext uri="{28A0092B-C50C-407E-A947-70E740481C1C}">
                <a14:useLocalDpi xmlns:a14="http://schemas.microsoft.com/office/drawing/2010/main" val="0"/>
              </a:ext>
            </a:extLst>
          </a:blip>
          <a:srcRect b="7194"/>
          <a:stretch/>
        </p:blipFill>
        <p:spPr>
          <a:xfrm>
            <a:off x="6705600" y="2844946"/>
            <a:ext cx="5185482" cy="3051359"/>
          </a:xfrm>
          <a:prstGeom prst="rect">
            <a:avLst/>
          </a:prstGeom>
        </p:spPr>
      </p:pic>
      <p:pic>
        <p:nvPicPr>
          <p:cNvPr id="14" name="Picture 13"/>
          <p:cNvPicPr>
            <a:picLocks noChangeAspect="1" noChangeArrowheads="1"/>
          </p:cNvPicPr>
          <p:nvPr/>
        </p:nvPicPr>
        <p:blipFill rotWithShape="1">
          <a:blip r:embed="rId8">
            <a:extLst>
              <a:ext uri="{28A0092B-C50C-407E-A947-70E740481C1C}">
                <a14:useLocalDpi xmlns:a14="http://schemas.microsoft.com/office/drawing/2010/main" val="0"/>
              </a:ext>
            </a:extLst>
          </a:blip>
          <a:srcRect t="5376"/>
          <a:stretch/>
        </p:blipFill>
        <p:spPr bwMode="auto">
          <a:xfrm>
            <a:off x="304800" y="2862156"/>
            <a:ext cx="6252228" cy="3614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811822303"/>
      </p:ext>
    </p:extLst>
  </p:cSld>
  <p:clrMapOvr>
    <a:masterClrMapping/>
  </p:clrMapOvr>
  <mc:AlternateContent xmlns:mc="http://schemas.openxmlformats.org/markup-compatibility/2006" xmlns:p14="http://schemas.microsoft.com/office/powerpoint/2010/main">
    <mc:Choice Requires="p14">
      <p:transition spd="slow" p14:dur="2000" advTm="10525"/>
    </mc:Choice>
    <mc:Fallback xmlns="">
      <p:transition spd="slow" advTm="1052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5896305"/>
            <a:ext cx="12191999" cy="961691"/>
          </a:xfrm>
          <a:prstGeom prst="rect">
            <a:avLst/>
          </a:prstGeom>
        </p:spPr>
      </p:pic>
      <p:pic>
        <p:nvPicPr>
          <p:cNvPr id="3" name="object 3"/>
          <p:cNvPicPr/>
          <p:nvPr/>
        </p:nvPicPr>
        <p:blipFill>
          <a:blip r:embed="rId4" cstate="print"/>
          <a:stretch>
            <a:fillRect/>
          </a:stretch>
        </p:blipFill>
        <p:spPr>
          <a:xfrm>
            <a:off x="0" y="1346"/>
            <a:ext cx="8229600" cy="1079550"/>
          </a:xfrm>
          <a:prstGeom prst="rect">
            <a:avLst/>
          </a:prstGeom>
        </p:spPr>
      </p:pic>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lang="en-US" spc="-155" dirty="0"/>
              <a:t>EMMVEE</a:t>
            </a:r>
            <a:r>
              <a:rPr spc="-5" dirty="0"/>
              <a:t> </a:t>
            </a:r>
            <a:r>
              <a:rPr lang="en-US" spc="-105" dirty="0"/>
              <a:t>Training Session</a:t>
            </a:r>
            <a:endParaRPr spc="-75" dirty="0"/>
          </a:p>
        </p:txBody>
      </p:sp>
      <p:grpSp>
        <p:nvGrpSpPr>
          <p:cNvPr id="5" name="object 5"/>
          <p:cNvGrpSpPr/>
          <p:nvPr/>
        </p:nvGrpSpPr>
        <p:grpSpPr>
          <a:xfrm>
            <a:off x="10747247" y="0"/>
            <a:ext cx="1445260" cy="1414780"/>
            <a:chOff x="10747247" y="0"/>
            <a:chExt cx="1445260" cy="1414780"/>
          </a:xfrm>
        </p:grpSpPr>
        <p:pic>
          <p:nvPicPr>
            <p:cNvPr id="6" name="object 6"/>
            <p:cNvPicPr/>
            <p:nvPr/>
          </p:nvPicPr>
          <p:blipFill>
            <a:blip r:embed="rId5" cstate="print"/>
            <a:stretch>
              <a:fillRect/>
            </a:stretch>
          </p:blipFill>
          <p:spPr>
            <a:xfrm>
              <a:off x="10747247" y="0"/>
              <a:ext cx="1444752" cy="1414272"/>
            </a:xfrm>
            <a:prstGeom prst="rect">
              <a:avLst/>
            </a:prstGeom>
          </p:spPr>
        </p:pic>
        <p:pic>
          <p:nvPicPr>
            <p:cNvPr id="7" name="object 7"/>
            <p:cNvPicPr/>
            <p:nvPr/>
          </p:nvPicPr>
          <p:blipFill>
            <a:blip r:embed="rId6" cstate="print"/>
            <a:stretch>
              <a:fillRect/>
            </a:stretch>
          </p:blipFill>
          <p:spPr>
            <a:xfrm>
              <a:off x="10890884" y="0"/>
              <a:ext cx="1301114" cy="1271397"/>
            </a:xfrm>
            <a:prstGeom prst="rect">
              <a:avLst/>
            </a:prstGeom>
          </p:spPr>
        </p:pic>
      </p:grpSp>
      <p:sp>
        <p:nvSpPr>
          <p:cNvPr id="8" name="AutoShape 2" descr="5 Tips to Make eLearning As Engaging As Classroom Train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Title 1"/>
          <p:cNvSpPr>
            <a:spLocks noGrp="1"/>
          </p:cNvSpPr>
          <p:nvPr/>
        </p:nvSpPr>
        <p:spPr>
          <a:xfrm>
            <a:off x="3657600" y="541120"/>
            <a:ext cx="3048000" cy="53977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500" b="1" dirty="0">
                <a:ln w="1905"/>
                <a:solidFill>
                  <a:schemeClr val="accent6"/>
                </a:solidFill>
                <a:latin typeface="Times New Roman" panose="02020603050405020304" pitchFamily="18" charset="0"/>
                <a:cs typeface="Times New Roman" panose="02020603050405020304" pitchFamily="18" charset="0"/>
              </a:rPr>
              <a:t>SHINE</a:t>
            </a:r>
            <a:endParaRPr lang="en-IN" sz="2500" b="1" dirty="0">
              <a:ln w="1905"/>
              <a:solidFill>
                <a:schemeClr val="accent6"/>
              </a:solidFill>
              <a:effectLst/>
              <a:latin typeface="Times New Roman" panose="02020603050405020304" pitchFamily="18" charset="0"/>
              <a:cs typeface="Times New Roman" panose="02020603050405020304" pitchFamily="18" charset="0"/>
            </a:endParaRPr>
          </a:p>
        </p:txBody>
      </p:sp>
      <p:sp>
        <p:nvSpPr>
          <p:cNvPr id="10" name="Subtitle 2"/>
          <p:cNvSpPr>
            <a:spLocks noGrp="1"/>
          </p:cNvSpPr>
          <p:nvPr/>
        </p:nvSpPr>
        <p:spPr>
          <a:xfrm>
            <a:off x="307975" y="1195198"/>
            <a:ext cx="11503025" cy="1852802"/>
          </a:xfrm>
          <a:prstGeom prst="rect">
            <a:avLst/>
          </a:prstGeom>
          <a:ln w="9525">
            <a:no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i-FI" sz="1800" b="1" dirty="0">
                <a:solidFill>
                  <a:schemeClr val="accent6"/>
                </a:solidFill>
                <a:latin typeface="Times New Roman" panose="02020603050405020304" pitchFamily="18" charset="0"/>
                <a:cs typeface="Times New Roman" panose="02020603050405020304" pitchFamily="18" charset="0"/>
              </a:rPr>
              <a:t>Shine (seiso) : </a:t>
            </a:r>
            <a:r>
              <a:rPr lang="en-US" sz="1800" b="1" dirty="0">
                <a:solidFill>
                  <a:schemeClr val="tx2"/>
                </a:solidFill>
              </a:rPr>
              <a:t>The third step of 5S is Shine, or “</a:t>
            </a:r>
            <a:r>
              <a:rPr lang="en-US" sz="1800" b="1" dirty="0" err="1">
                <a:solidFill>
                  <a:schemeClr val="tx2"/>
                </a:solidFill>
              </a:rPr>
              <a:t>seiso</a:t>
            </a:r>
            <a:r>
              <a:rPr lang="en-US" sz="1800" b="1" dirty="0">
                <a:solidFill>
                  <a:schemeClr val="tx2"/>
                </a:solidFill>
              </a:rPr>
              <a:t>,” which means “cleanliness.” While the first and second steps cleared up space and arranged the area for efficiency, this step attacks the dirt and grime that inevitably builds up underneath the clutter, and works to keep it from coming back.</a:t>
            </a:r>
          </a:p>
          <a:p>
            <a:pPr algn="l"/>
            <a:r>
              <a:rPr lang="kn-IN" sz="1600" b="1" dirty="0">
                <a:solidFill>
                  <a:schemeClr val="accent6"/>
                </a:solidFill>
              </a:rPr>
              <a:t>ಶೈನ್ (ಸೀಸೊ) : </a:t>
            </a:r>
            <a:r>
              <a:rPr lang="kn-IN" sz="1600" dirty="0">
                <a:solidFill>
                  <a:schemeClr val="tx2"/>
                </a:solidFill>
              </a:rPr>
              <a:t>5S ನ ಮೂರನೇ ಹಂತವೆಂದರೆ ಶೈನ್, ಅಥವಾ "ಸೀಸೋ", ಅಂದರೆ "ಸ್ವಚ್ಛತೆ" ಎಂದರ್ಥ. ಮೊದಲ ಮತ್ತು ಎರಡನೆಯ ಹಂತಗಳು ಜಾಗವನ್ನು ತೆರವುಗೊಳಿಸಿ ಮತ್ತು ದಕ್ಷತೆಗಾಗಿ ಪ್ರದೇಶವನ್ನು ವ್ಯವಸ್ಥೆಗೊಳಿಸಿದರೆ, ಈ ಹಂತವು ಅನಿವಾರ್ಯವಾಗಿ ಅಸ್ತವ್ಯಸ್ತತೆಯ ಕೆಳಗೆ ನಿರ್ಮಿಸುವ ಕೊಳಕು ಮತ್ತು ಕೊಳೆಯನ್ನು ಆಕ್ರಮಿಸುತ್ತದೆ ಮತ್ತು ಅದನ್ನು ಹಿಂತಿರುಗಿಸದಂತೆ ತಡೆಯುತ್ತದೆ.</a:t>
            </a:r>
            <a:endParaRPr lang="en-IN" sz="1600" b="1" dirty="0">
              <a:solidFill>
                <a:schemeClr val="tx2"/>
              </a:solidFill>
            </a:endParaRPr>
          </a:p>
        </p:txBody>
      </p:sp>
      <p:pic>
        <p:nvPicPr>
          <p:cNvPr id="11" name="Picture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62600" y="3124198"/>
            <a:ext cx="6168827" cy="2590801"/>
          </a:xfrm>
          <a:prstGeom prst="rect">
            <a:avLst/>
          </a:prstGeom>
        </p:spPr>
      </p:pic>
      <p:pic>
        <p:nvPicPr>
          <p:cNvPr id="12" name="Picture 1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0316" y="3124199"/>
            <a:ext cx="4769125" cy="3009899"/>
          </a:xfrm>
          <a:prstGeom prst="rect">
            <a:avLst/>
          </a:prstGeom>
        </p:spPr>
      </p:pic>
    </p:spTree>
    <p:custDataLst>
      <p:tags r:id="rId1"/>
    </p:custDataLst>
    <p:extLst>
      <p:ext uri="{BB962C8B-B14F-4D97-AF65-F5344CB8AC3E}">
        <p14:creationId xmlns:p14="http://schemas.microsoft.com/office/powerpoint/2010/main" val="1652236358"/>
      </p:ext>
    </p:extLst>
  </p:cSld>
  <p:clrMapOvr>
    <a:masterClrMapping/>
  </p:clrMapOvr>
  <mc:AlternateContent xmlns:mc="http://schemas.openxmlformats.org/markup-compatibility/2006" xmlns:p14="http://schemas.microsoft.com/office/powerpoint/2010/main">
    <mc:Choice Requires="p14">
      <p:transition spd="slow" p14:dur="2000" advTm="10525"/>
    </mc:Choice>
    <mc:Fallback xmlns="">
      <p:transition spd="slow" advTm="1052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5896305"/>
            <a:ext cx="12191999" cy="961691"/>
          </a:xfrm>
          <a:prstGeom prst="rect">
            <a:avLst/>
          </a:prstGeom>
        </p:spPr>
      </p:pic>
      <p:pic>
        <p:nvPicPr>
          <p:cNvPr id="3" name="object 3"/>
          <p:cNvPicPr/>
          <p:nvPr/>
        </p:nvPicPr>
        <p:blipFill>
          <a:blip r:embed="rId4" cstate="print"/>
          <a:stretch>
            <a:fillRect/>
          </a:stretch>
        </p:blipFill>
        <p:spPr>
          <a:xfrm>
            <a:off x="0" y="1346"/>
            <a:ext cx="8229600" cy="1079550"/>
          </a:xfrm>
          <a:prstGeom prst="rect">
            <a:avLst/>
          </a:prstGeom>
        </p:spPr>
      </p:pic>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lang="en-US" spc="-155" dirty="0"/>
              <a:t>EMMVEE</a:t>
            </a:r>
            <a:r>
              <a:rPr spc="-5" dirty="0"/>
              <a:t> </a:t>
            </a:r>
            <a:r>
              <a:rPr lang="en-US" spc="-105" dirty="0"/>
              <a:t>Training Session</a:t>
            </a:r>
            <a:endParaRPr spc="-75" dirty="0"/>
          </a:p>
        </p:txBody>
      </p:sp>
      <p:grpSp>
        <p:nvGrpSpPr>
          <p:cNvPr id="5" name="object 5"/>
          <p:cNvGrpSpPr/>
          <p:nvPr/>
        </p:nvGrpSpPr>
        <p:grpSpPr>
          <a:xfrm>
            <a:off x="10747247" y="0"/>
            <a:ext cx="1445260" cy="1414780"/>
            <a:chOff x="10747247" y="0"/>
            <a:chExt cx="1445260" cy="1414780"/>
          </a:xfrm>
        </p:grpSpPr>
        <p:pic>
          <p:nvPicPr>
            <p:cNvPr id="6" name="object 6"/>
            <p:cNvPicPr/>
            <p:nvPr/>
          </p:nvPicPr>
          <p:blipFill>
            <a:blip r:embed="rId5" cstate="print"/>
            <a:stretch>
              <a:fillRect/>
            </a:stretch>
          </p:blipFill>
          <p:spPr>
            <a:xfrm>
              <a:off x="10747247" y="0"/>
              <a:ext cx="1444752" cy="1414272"/>
            </a:xfrm>
            <a:prstGeom prst="rect">
              <a:avLst/>
            </a:prstGeom>
          </p:spPr>
        </p:pic>
        <p:pic>
          <p:nvPicPr>
            <p:cNvPr id="7" name="object 7"/>
            <p:cNvPicPr/>
            <p:nvPr/>
          </p:nvPicPr>
          <p:blipFill>
            <a:blip r:embed="rId6" cstate="print"/>
            <a:stretch>
              <a:fillRect/>
            </a:stretch>
          </p:blipFill>
          <p:spPr>
            <a:xfrm>
              <a:off x="10890884" y="0"/>
              <a:ext cx="1301114" cy="1271397"/>
            </a:xfrm>
            <a:prstGeom prst="rect">
              <a:avLst/>
            </a:prstGeom>
          </p:spPr>
        </p:pic>
      </p:grpSp>
      <p:sp>
        <p:nvSpPr>
          <p:cNvPr id="8" name="AutoShape 2" descr="5 Tips to Make eLearning As Engaging As Classroom Train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Title 1"/>
          <p:cNvSpPr>
            <a:spLocks noGrp="1"/>
          </p:cNvSpPr>
          <p:nvPr/>
        </p:nvSpPr>
        <p:spPr>
          <a:xfrm>
            <a:off x="3657600" y="541120"/>
            <a:ext cx="3048000" cy="53977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500" b="1" dirty="0">
                <a:ln w="1905"/>
                <a:solidFill>
                  <a:schemeClr val="accent6"/>
                </a:solidFill>
                <a:effectLst/>
                <a:latin typeface="Times New Roman" panose="02020603050405020304" pitchFamily="18" charset="0"/>
                <a:cs typeface="Times New Roman" panose="02020603050405020304" pitchFamily="18" charset="0"/>
              </a:rPr>
              <a:t>STANDERDIZE</a:t>
            </a:r>
            <a:endParaRPr lang="en-IN" sz="2500" b="1" dirty="0">
              <a:ln w="1905"/>
              <a:solidFill>
                <a:schemeClr val="accent6"/>
              </a:solidFill>
              <a:effectLst/>
              <a:latin typeface="Times New Roman" panose="02020603050405020304" pitchFamily="18" charset="0"/>
              <a:cs typeface="Times New Roman" panose="02020603050405020304" pitchFamily="18" charset="0"/>
            </a:endParaRPr>
          </a:p>
        </p:txBody>
      </p:sp>
      <p:sp>
        <p:nvSpPr>
          <p:cNvPr id="10" name="Subtitle 2"/>
          <p:cNvSpPr>
            <a:spLocks noGrp="1"/>
          </p:cNvSpPr>
          <p:nvPr/>
        </p:nvSpPr>
        <p:spPr>
          <a:xfrm>
            <a:off x="278946" y="1143000"/>
            <a:ext cx="11608254" cy="2310003"/>
          </a:xfrm>
          <a:prstGeom prst="rect">
            <a:avLst/>
          </a:prstGeom>
          <a:ln w="9525">
            <a:no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i-FI" sz="1800" b="1" dirty="0">
                <a:solidFill>
                  <a:schemeClr val="accent6"/>
                </a:solidFill>
              </a:rPr>
              <a:t> </a:t>
            </a:r>
            <a:r>
              <a:rPr lang="en-IN" sz="1800" b="1" dirty="0">
                <a:solidFill>
                  <a:schemeClr val="accent6"/>
                </a:solidFill>
              </a:rPr>
              <a:t>Standardize</a:t>
            </a:r>
            <a:r>
              <a:rPr lang="fi-FI" sz="1800" b="1" dirty="0">
                <a:solidFill>
                  <a:schemeClr val="accent6"/>
                </a:solidFill>
              </a:rPr>
              <a:t>(seiketsu) : </a:t>
            </a:r>
            <a:r>
              <a:rPr lang="en-US" sz="1800" b="1" dirty="0">
                <a:solidFill>
                  <a:schemeClr val="tx2"/>
                </a:solidFill>
              </a:rPr>
              <a:t>Standardize, the fourth of the 5S's, involves putting the systems in place to ensure that everyone does things the same way. The methodology for Sorting needs to be standardized, the approach to Set in Order needs to be standardized, and Shine especially needs to be standardized.</a:t>
            </a:r>
          </a:p>
          <a:p>
            <a:pPr algn="l"/>
            <a:r>
              <a:rPr lang="kn-IN" sz="1800" dirty="0">
                <a:solidFill>
                  <a:schemeClr val="accent6"/>
                </a:solidFill>
              </a:rPr>
              <a:t>ಮಾಣೀಕರಿಸಿ(ಸೀಕೆತ್ಸು) : </a:t>
            </a:r>
            <a:r>
              <a:rPr lang="kn-IN" sz="1800" dirty="0">
                <a:solidFill>
                  <a:schemeClr val="tx2"/>
                </a:solidFill>
              </a:rPr>
              <a:t>5S ಗಳಲ್ಲಿ ನಾಲ್ಕನೆಯದಾಗಿ ಪ್ರಮಾಣೀಕರಿಸುವುದು, ಎಲ್ಲರೂ ಒಂದೇ ರೀತಿಯಲ್ಲಿ ಕೆಲಸಗಳನ್ನು ಮಾಡುವುದನ್ನು ಖಚಿತಪಡಿಸಿಕೊಳ್ಳಲು ವ್ಯವಸ್ಥೆಗಳನ್ನು ಇರಿಸುವುದನ್ನು ಒಳಗೊಂಡಿರುತ್ತದೆ. ವಿಂಗಡಿಸುವ ವಿಧಾನವನ್ನು ಪ್ರಮಾಣೀಕರಿಸಬೇಕಾಗಿದೆ, ಸೆಟ್ ಇನ್ ಆರ್ಡರ್ ವಿಧಾನವನ್ನು ಪ್ರಮಾಣೀಕರಿಸಬೇಕಾಗಿದೆ ಮತ್ತು ಶೈನ್ ವಿಶೇಷವಾಗಿ ಪ್ರಮಾಣೀಕರಿಸಬೇಕಾಗಿದೆ.</a:t>
            </a:r>
            <a:endParaRPr lang="en-IN" sz="1800" b="1" dirty="0">
              <a:solidFill>
                <a:schemeClr val="tx2"/>
              </a:solidFill>
            </a:endParaRPr>
          </a:p>
        </p:txBody>
      </p:sp>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7975" y="3429000"/>
            <a:ext cx="6573332" cy="2948150"/>
          </a:xfrm>
          <a:prstGeom prst="rect">
            <a:avLst/>
          </a:prstGeom>
        </p:spPr>
      </p:pic>
      <p:pic>
        <p:nvPicPr>
          <p:cNvPr id="14" name="Picture 1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785120" y="3918724"/>
            <a:ext cx="2982527" cy="1567675"/>
          </a:xfrm>
          <a:prstGeom prst="rect">
            <a:avLst/>
          </a:prstGeom>
        </p:spPr>
      </p:pic>
    </p:spTree>
    <p:custDataLst>
      <p:tags r:id="rId1"/>
    </p:custDataLst>
    <p:extLst>
      <p:ext uri="{BB962C8B-B14F-4D97-AF65-F5344CB8AC3E}">
        <p14:creationId xmlns:p14="http://schemas.microsoft.com/office/powerpoint/2010/main" val="2665466910"/>
      </p:ext>
    </p:extLst>
  </p:cSld>
  <p:clrMapOvr>
    <a:masterClrMapping/>
  </p:clrMapOvr>
  <mc:AlternateContent xmlns:mc="http://schemas.openxmlformats.org/markup-compatibility/2006" xmlns:p14="http://schemas.microsoft.com/office/powerpoint/2010/main">
    <mc:Choice Requires="p14">
      <p:transition spd="slow" p14:dur="2000" advTm="10525"/>
    </mc:Choice>
    <mc:Fallback xmlns="">
      <p:transition spd="slow" advTm="1052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5896305"/>
            <a:ext cx="12191999" cy="961691"/>
          </a:xfrm>
          <a:prstGeom prst="rect">
            <a:avLst/>
          </a:prstGeom>
        </p:spPr>
      </p:pic>
      <p:pic>
        <p:nvPicPr>
          <p:cNvPr id="3" name="object 3"/>
          <p:cNvPicPr/>
          <p:nvPr/>
        </p:nvPicPr>
        <p:blipFill>
          <a:blip r:embed="rId4" cstate="print"/>
          <a:stretch>
            <a:fillRect/>
          </a:stretch>
        </p:blipFill>
        <p:spPr>
          <a:xfrm>
            <a:off x="0" y="1346"/>
            <a:ext cx="8229600" cy="1079550"/>
          </a:xfrm>
          <a:prstGeom prst="rect">
            <a:avLst/>
          </a:prstGeom>
        </p:spPr>
      </p:pic>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lang="en-US" spc="-155" dirty="0"/>
              <a:t>EMMVEE</a:t>
            </a:r>
            <a:r>
              <a:rPr spc="-5" dirty="0"/>
              <a:t> </a:t>
            </a:r>
            <a:r>
              <a:rPr lang="en-US" spc="-105" dirty="0"/>
              <a:t>Training Session</a:t>
            </a:r>
            <a:endParaRPr spc="-75" dirty="0"/>
          </a:p>
        </p:txBody>
      </p:sp>
      <p:grpSp>
        <p:nvGrpSpPr>
          <p:cNvPr id="5" name="object 5"/>
          <p:cNvGrpSpPr/>
          <p:nvPr/>
        </p:nvGrpSpPr>
        <p:grpSpPr>
          <a:xfrm>
            <a:off x="10747247" y="0"/>
            <a:ext cx="1445260" cy="1414780"/>
            <a:chOff x="10747247" y="0"/>
            <a:chExt cx="1445260" cy="1414780"/>
          </a:xfrm>
        </p:grpSpPr>
        <p:pic>
          <p:nvPicPr>
            <p:cNvPr id="6" name="object 6"/>
            <p:cNvPicPr/>
            <p:nvPr/>
          </p:nvPicPr>
          <p:blipFill>
            <a:blip r:embed="rId5" cstate="print"/>
            <a:stretch>
              <a:fillRect/>
            </a:stretch>
          </p:blipFill>
          <p:spPr>
            <a:xfrm>
              <a:off x="10747247" y="0"/>
              <a:ext cx="1444752" cy="1414272"/>
            </a:xfrm>
            <a:prstGeom prst="rect">
              <a:avLst/>
            </a:prstGeom>
          </p:spPr>
        </p:pic>
        <p:pic>
          <p:nvPicPr>
            <p:cNvPr id="7" name="object 7"/>
            <p:cNvPicPr/>
            <p:nvPr/>
          </p:nvPicPr>
          <p:blipFill>
            <a:blip r:embed="rId6" cstate="print"/>
            <a:stretch>
              <a:fillRect/>
            </a:stretch>
          </p:blipFill>
          <p:spPr>
            <a:xfrm>
              <a:off x="10890884" y="0"/>
              <a:ext cx="1301114" cy="1271397"/>
            </a:xfrm>
            <a:prstGeom prst="rect">
              <a:avLst/>
            </a:prstGeom>
          </p:spPr>
        </p:pic>
      </p:grpSp>
      <p:sp>
        <p:nvSpPr>
          <p:cNvPr id="8" name="AutoShape 2" descr="5 Tips to Make eLearning As Engaging As Classroom Train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Title 1"/>
          <p:cNvSpPr>
            <a:spLocks noGrp="1"/>
          </p:cNvSpPr>
          <p:nvPr/>
        </p:nvSpPr>
        <p:spPr>
          <a:xfrm>
            <a:off x="3657600" y="541120"/>
            <a:ext cx="3048000" cy="53977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500" b="1" dirty="0">
                <a:ln w="1905"/>
                <a:solidFill>
                  <a:schemeClr val="accent6"/>
                </a:solidFill>
                <a:effectLst/>
                <a:latin typeface="Times New Roman" panose="02020603050405020304" pitchFamily="18" charset="0"/>
                <a:cs typeface="Times New Roman" panose="02020603050405020304" pitchFamily="18" charset="0"/>
              </a:rPr>
              <a:t>STANDERDIZE</a:t>
            </a:r>
            <a:endParaRPr lang="en-IN" sz="2500" b="1" dirty="0">
              <a:ln w="1905"/>
              <a:solidFill>
                <a:schemeClr val="accent6"/>
              </a:solidFill>
              <a:effectLst/>
              <a:latin typeface="Times New Roman" panose="02020603050405020304" pitchFamily="18" charset="0"/>
              <a:cs typeface="Times New Roman" panose="02020603050405020304" pitchFamily="18" charset="0"/>
            </a:endParaRPr>
          </a:p>
        </p:txBody>
      </p:sp>
      <p:sp>
        <p:nvSpPr>
          <p:cNvPr id="15" name="Subtitle 2"/>
          <p:cNvSpPr>
            <a:spLocks noGrp="1"/>
          </p:cNvSpPr>
          <p:nvPr/>
        </p:nvSpPr>
        <p:spPr>
          <a:xfrm>
            <a:off x="228600" y="1219200"/>
            <a:ext cx="11658600" cy="1066800"/>
          </a:xfrm>
          <a:prstGeom prst="rect">
            <a:avLst/>
          </a:prstGeom>
          <a:ln w="9525">
            <a:no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i-FI" sz="2000" b="1" dirty="0">
                <a:solidFill>
                  <a:schemeClr val="accent6"/>
                </a:solidFill>
                <a:latin typeface="Times New Roman" panose="02020603050405020304" pitchFamily="18" charset="0"/>
                <a:cs typeface="Times New Roman" panose="02020603050405020304" pitchFamily="18" charset="0"/>
              </a:rPr>
              <a:t>Sustain(shitsuke) : </a:t>
            </a:r>
            <a:r>
              <a:rPr lang="en-US" sz="2000" b="1" dirty="0">
                <a:solidFill>
                  <a:schemeClr val="tx2"/>
                </a:solidFill>
              </a:rPr>
              <a:t>The fifth step of a 5S program is Sustain, or “</a:t>
            </a:r>
            <a:r>
              <a:rPr lang="en-US" sz="2000" b="1" dirty="0" err="1">
                <a:solidFill>
                  <a:schemeClr val="tx2"/>
                </a:solidFill>
              </a:rPr>
              <a:t>shitsuke</a:t>
            </a:r>
            <a:r>
              <a:rPr lang="en-US" sz="2000" b="1" dirty="0">
                <a:solidFill>
                  <a:schemeClr val="tx2"/>
                </a:solidFill>
              </a:rPr>
              <a:t>,” which literally means “discipline.” The idea here is continuing commitment. It's important to follow through on the decisions that you've made — and continually return to the earlier steps of 5S, in an ongoing cycle.</a:t>
            </a:r>
            <a:endParaRPr lang="en-IN" sz="2000" b="1" dirty="0">
              <a:solidFill>
                <a:schemeClr val="tx2"/>
              </a:solidFill>
            </a:endParaRPr>
          </a:p>
          <a:p>
            <a:pPr algn="l"/>
            <a:r>
              <a:rPr lang="kn-IN" sz="1800" b="1" dirty="0">
                <a:solidFill>
                  <a:schemeClr val="accent6"/>
                </a:solidFill>
              </a:rPr>
              <a:t>ನಿರಂತರವಾಗಿ ಉಳಿಸಿಕೊಳ್ಳು</a:t>
            </a:r>
            <a:r>
              <a:rPr lang="en-IN" sz="1800" b="1" dirty="0">
                <a:solidFill>
                  <a:schemeClr val="accent6"/>
                </a:solidFill>
              </a:rPr>
              <a:t> </a:t>
            </a:r>
            <a:r>
              <a:rPr lang="kn-IN" sz="1800" dirty="0">
                <a:solidFill>
                  <a:schemeClr val="accent6"/>
                </a:solidFill>
              </a:rPr>
              <a:t>: </a:t>
            </a:r>
            <a:r>
              <a:rPr lang="kn-IN" sz="1800" dirty="0">
                <a:solidFill>
                  <a:schemeClr val="tx2"/>
                </a:solidFill>
              </a:rPr>
              <a:t>5S ಪ್ರೋಗ್ರಾಮ್‌ನ ಐದನೇ ಹಂತವೆಂದರೆ Sustain, ಅಥವಾ "shitsuke," ಇದು ಅಕ್ಷರಶಃ "ಶಿಸ್ತು" ಎಂದರ್ಥ. ಇಲ್ಲಿ ಕಲ್ಪನೆಯು ನಿರಂತರ ಬದ್ಧತೆಯಾಗಿದೆ. ನೀವು ಮಾಡಿದ ನಿರ್ಧಾರಗಳನ್ನು ಅನುಸರಿಸುವುದು ಮುಖ್ಯವಾಗಿದೆ - ಮತ್ತು ನಡೆಯುತ್ತಿರುವ ಚಕ್ರದಲ್ಲಿ 5S ನ ಹಿಂದಿನ ಹಂತಗಳಿಗೆ ನಿರಂತರವಾಗಿ ಹಿಂತಿರುಗಿ.</a:t>
            </a:r>
            <a:endParaRPr lang="en-IN" sz="1800" dirty="0">
              <a:solidFill>
                <a:schemeClr val="tx2"/>
              </a:solidFill>
            </a:endParaRPr>
          </a:p>
        </p:txBody>
      </p:sp>
      <p:pic>
        <p:nvPicPr>
          <p:cNvPr id="17" name="Picture 1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290736" y="3200401"/>
            <a:ext cx="6777064" cy="3176750"/>
          </a:xfrm>
          <a:prstGeom prst="rect">
            <a:avLst/>
          </a:prstGeom>
        </p:spPr>
      </p:pic>
    </p:spTree>
    <p:custDataLst>
      <p:tags r:id="rId1"/>
    </p:custDataLst>
    <p:extLst>
      <p:ext uri="{BB962C8B-B14F-4D97-AF65-F5344CB8AC3E}">
        <p14:creationId xmlns:p14="http://schemas.microsoft.com/office/powerpoint/2010/main" val="728483055"/>
      </p:ext>
    </p:extLst>
  </p:cSld>
  <p:clrMapOvr>
    <a:masterClrMapping/>
  </p:clrMapOvr>
  <mc:AlternateContent xmlns:mc="http://schemas.openxmlformats.org/markup-compatibility/2006" xmlns:p14="http://schemas.microsoft.com/office/powerpoint/2010/main">
    <mc:Choice Requires="p14">
      <p:transition spd="slow" p14:dur="2000" advTm="10525"/>
    </mc:Choice>
    <mc:Fallback xmlns="">
      <p:transition spd="slow" advTm="1052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5896305"/>
            <a:ext cx="12191999" cy="961691"/>
          </a:xfrm>
          <a:prstGeom prst="rect">
            <a:avLst/>
          </a:prstGeom>
        </p:spPr>
      </p:pic>
      <p:pic>
        <p:nvPicPr>
          <p:cNvPr id="3" name="object 3"/>
          <p:cNvPicPr/>
          <p:nvPr/>
        </p:nvPicPr>
        <p:blipFill>
          <a:blip r:embed="rId4" cstate="print"/>
          <a:stretch>
            <a:fillRect/>
          </a:stretch>
        </p:blipFill>
        <p:spPr>
          <a:xfrm>
            <a:off x="0" y="1346"/>
            <a:ext cx="8229600" cy="1079550"/>
          </a:xfrm>
          <a:prstGeom prst="rect">
            <a:avLst/>
          </a:prstGeom>
        </p:spPr>
      </p:pic>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lang="en-US" spc="-155" dirty="0"/>
              <a:t>EMMVEE</a:t>
            </a:r>
            <a:r>
              <a:rPr spc="-5" dirty="0"/>
              <a:t> </a:t>
            </a:r>
            <a:r>
              <a:rPr lang="en-US" spc="-105" dirty="0"/>
              <a:t>Training Session</a:t>
            </a:r>
            <a:endParaRPr spc="-75" dirty="0"/>
          </a:p>
        </p:txBody>
      </p:sp>
      <p:grpSp>
        <p:nvGrpSpPr>
          <p:cNvPr id="5" name="object 5"/>
          <p:cNvGrpSpPr/>
          <p:nvPr/>
        </p:nvGrpSpPr>
        <p:grpSpPr>
          <a:xfrm>
            <a:off x="10747247" y="0"/>
            <a:ext cx="1445260" cy="1414780"/>
            <a:chOff x="10747247" y="0"/>
            <a:chExt cx="1445260" cy="1414780"/>
          </a:xfrm>
        </p:grpSpPr>
        <p:pic>
          <p:nvPicPr>
            <p:cNvPr id="6" name="object 6"/>
            <p:cNvPicPr/>
            <p:nvPr/>
          </p:nvPicPr>
          <p:blipFill>
            <a:blip r:embed="rId5" cstate="print"/>
            <a:stretch>
              <a:fillRect/>
            </a:stretch>
          </p:blipFill>
          <p:spPr>
            <a:xfrm>
              <a:off x="10747247" y="0"/>
              <a:ext cx="1444752" cy="1414272"/>
            </a:xfrm>
            <a:prstGeom prst="rect">
              <a:avLst/>
            </a:prstGeom>
          </p:spPr>
        </p:pic>
        <p:pic>
          <p:nvPicPr>
            <p:cNvPr id="7" name="object 7"/>
            <p:cNvPicPr/>
            <p:nvPr/>
          </p:nvPicPr>
          <p:blipFill>
            <a:blip r:embed="rId6" cstate="print"/>
            <a:stretch>
              <a:fillRect/>
            </a:stretch>
          </p:blipFill>
          <p:spPr>
            <a:xfrm>
              <a:off x="10890884" y="0"/>
              <a:ext cx="1301114" cy="1271397"/>
            </a:xfrm>
            <a:prstGeom prst="rect">
              <a:avLst/>
            </a:prstGeom>
          </p:spPr>
        </p:pic>
      </p:grpSp>
      <p:sp>
        <p:nvSpPr>
          <p:cNvPr id="8" name="AutoShape 2" descr="5 Tips to Make eLearning As Engaging As Classroom Train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2"/>
          <p:cNvSpPr>
            <a:spLocks noGrp="1"/>
          </p:cNvSpPr>
          <p:nvPr/>
        </p:nvSpPr>
        <p:spPr>
          <a:xfrm>
            <a:off x="460375" y="762000"/>
            <a:ext cx="11009248" cy="4710303"/>
          </a:xfrm>
          <a:prstGeom prst="rect">
            <a:avLst/>
          </a:prstGeom>
          <a:noFill/>
          <a:ln>
            <a:no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a:buNone/>
            </a:pPr>
            <a:r>
              <a:rPr lang="en-US" sz="19900" dirty="0">
                <a:blipFill dpi="0" rotWithShape="1">
                  <a:blip r:embed="rId7">
                    <a:extLst>
                      <a:ext uri="{28A0092B-C50C-407E-A947-70E740481C1C}">
                        <a14:useLocalDpi xmlns:a14="http://schemas.microsoft.com/office/drawing/2010/main" val="0"/>
                      </a:ext>
                    </a:extLst>
                  </a:blip>
                  <a:srcRect/>
                  <a:stretch>
                    <a:fillRect/>
                  </a:stretch>
                </a:blipFill>
                <a:latin typeface="Cooper Black" pitchFamily="18" charset="0"/>
                <a:cs typeface="72 Black" panose="020B0A04030603020204" pitchFamily="34" charset="0"/>
              </a:rPr>
              <a:t>THANK YOU</a:t>
            </a:r>
            <a:endParaRPr lang="en-IN" sz="19900" dirty="0">
              <a:blipFill dpi="0" rotWithShape="1">
                <a:blip r:embed="rId7">
                  <a:extLst>
                    <a:ext uri="{28A0092B-C50C-407E-A947-70E740481C1C}">
                      <a14:useLocalDpi xmlns:a14="http://schemas.microsoft.com/office/drawing/2010/main" val="0"/>
                    </a:ext>
                  </a:extLst>
                </a:blip>
                <a:srcRect/>
                <a:stretch>
                  <a:fillRect/>
                </a:stretch>
              </a:blipFill>
              <a:latin typeface="Cooper Black" pitchFamily="18" charset="0"/>
              <a:cs typeface="72 Black" panose="020B0A04030603020204" pitchFamily="34" charset="0"/>
            </a:endParaRPr>
          </a:p>
        </p:txBody>
      </p:sp>
    </p:spTree>
    <p:custDataLst>
      <p:tags r:id="rId1"/>
    </p:custDataLst>
    <p:extLst>
      <p:ext uri="{BB962C8B-B14F-4D97-AF65-F5344CB8AC3E}">
        <p14:creationId xmlns:p14="http://schemas.microsoft.com/office/powerpoint/2010/main" val="1621127215"/>
      </p:ext>
    </p:extLst>
  </p:cSld>
  <p:clrMapOvr>
    <a:masterClrMapping/>
  </p:clrMapOvr>
  <mc:AlternateContent xmlns:mc="http://schemas.openxmlformats.org/markup-compatibility/2006" xmlns:p14="http://schemas.microsoft.com/office/powerpoint/2010/main">
    <mc:Choice Requires="p14">
      <p:transition spd="slow" p14:dur="2000" advTm="10525"/>
    </mc:Choice>
    <mc:Fallback xmlns="">
      <p:transition spd="slow" advTm="10525"/>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2|1.8|6.2"/>
</p:tagLst>
</file>

<file path=ppt/tags/tag2.xml><?xml version="1.0" encoding="utf-8"?>
<p:tagLst xmlns:a="http://schemas.openxmlformats.org/drawingml/2006/main" xmlns:r="http://schemas.openxmlformats.org/officeDocument/2006/relationships" xmlns:p="http://schemas.openxmlformats.org/presentationml/2006/main">
  <p:tag name="TIMING" val="|1|4.9|10.8"/>
</p:tagLst>
</file>

<file path=ppt/tags/tag3.xml><?xml version="1.0" encoding="utf-8"?>
<p:tagLst xmlns:a="http://schemas.openxmlformats.org/drawingml/2006/main" xmlns:r="http://schemas.openxmlformats.org/officeDocument/2006/relationships" xmlns:p="http://schemas.openxmlformats.org/presentationml/2006/main">
  <p:tag name="TIMING" val="|1.2|1.8|6.2"/>
</p:tagLst>
</file>

<file path=ppt/tags/tag4.xml><?xml version="1.0" encoding="utf-8"?>
<p:tagLst xmlns:a="http://schemas.openxmlformats.org/drawingml/2006/main" xmlns:r="http://schemas.openxmlformats.org/officeDocument/2006/relationships" xmlns:p="http://schemas.openxmlformats.org/presentationml/2006/main">
  <p:tag name="TIMING" val="|1.2|1.8|6.2"/>
</p:tagLst>
</file>

<file path=ppt/tags/tag5.xml><?xml version="1.0" encoding="utf-8"?>
<p:tagLst xmlns:a="http://schemas.openxmlformats.org/drawingml/2006/main" xmlns:r="http://schemas.openxmlformats.org/officeDocument/2006/relationships" xmlns:p="http://schemas.openxmlformats.org/presentationml/2006/main">
  <p:tag name="TIMING" val="|1.2|1.8|6.2"/>
</p:tagLst>
</file>

<file path=ppt/tags/tag6.xml><?xml version="1.0" encoding="utf-8"?>
<p:tagLst xmlns:a="http://schemas.openxmlformats.org/drawingml/2006/main" xmlns:r="http://schemas.openxmlformats.org/officeDocument/2006/relationships" xmlns:p="http://schemas.openxmlformats.org/presentationml/2006/main">
  <p:tag name="TIMING" val="|1.2|1.8|6.2"/>
</p:tagLst>
</file>

<file path=ppt/tags/tag7.xml><?xml version="1.0" encoding="utf-8"?>
<p:tagLst xmlns:a="http://schemas.openxmlformats.org/drawingml/2006/main" xmlns:r="http://schemas.openxmlformats.org/officeDocument/2006/relationships" xmlns:p="http://schemas.openxmlformats.org/presentationml/2006/main">
  <p:tag name="TIMING" val="|1.2|1.8|6.2"/>
</p:tagLst>
</file>

<file path=ppt/tags/tag8.xml><?xml version="1.0" encoding="utf-8"?>
<p:tagLst xmlns:a="http://schemas.openxmlformats.org/drawingml/2006/main" xmlns:r="http://schemas.openxmlformats.org/officeDocument/2006/relationships" xmlns:p="http://schemas.openxmlformats.org/presentationml/2006/main">
  <p:tag name="TIMING" val="|1.2|1.8|6.2"/>
</p:tagLst>
</file>

<file path=ppt/tags/tag9.xml><?xml version="1.0" encoding="utf-8"?>
<p:tagLst xmlns:a="http://schemas.openxmlformats.org/drawingml/2006/main" xmlns:r="http://schemas.openxmlformats.org/officeDocument/2006/relationships" xmlns:p="http://schemas.openxmlformats.org/presentationml/2006/main">
  <p:tag name="TIMING" val="|1.2|1.8|6.2"/>
</p:tagLst>
</file>

<file path=ppt/tags/tag10.xml><?xml version="1.0" encoding="utf-8"?>
<p:tagLst xmlns:a="http://schemas.openxmlformats.org/drawingml/2006/main" xmlns:r="http://schemas.openxmlformats.org/officeDocument/2006/relationships" xmlns:p="http://schemas.openxmlformats.org/presentationml/2006/main">
  <p:tag name="TIMING" val="|1.2|1.8|6.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7071</TotalTime>
  <Words>310</Words>
  <Application>Microsoft Office PowerPoint</Application>
  <PresentationFormat>Widescreen</PresentationFormat>
  <Paragraphs>51</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EMMVEE Training Session</vt:lpstr>
      <vt:lpstr>EMMVEE Training Session</vt:lpstr>
      <vt:lpstr>EMMVEE Training Session</vt:lpstr>
      <vt:lpstr>EMMVEE Training Session</vt:lpstr>
      <vt:lpstr>EMMVEE Training Session</vt:lpstr>
      <vt:lpstr>EMMVEE Training Session</vt:lpstr>
      <vt:lpstr>EMMVEE Training Session</vt:lpstr>
      <vt:lpstr>EMMVEE Training Session</vt:lpstr>
      <vt:lpstr>EMMVEE Training Session</vt:lpstr>
      <vt:lpstr>EMMVEE Training Session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Chidananda Bilur</cp:lastModifiedBy>
  <cp:revision>436</cp:revision>
  <dcterms:created xsi:type="dcterms:W3CDTF">2023-05-15T13:26:48Z</dcterms:created>
  <dcterms:modified xsi:type="dcterms:W3CDTF">2025-08-08T12:30:08Z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2023-04-05T00:00:00Z</vt:filetime>
  </property>
  <property fmtid="{D5CDD505-2E9C-101B-9397-08002B2CF9AE}" pid="3" name="Creator">
    <vt:lpwstr>Microsoft® PowerPoint® 2010</vt:lpwstr>
  </property>
  <property fmtid="{D5CDD505-2E9C-101B-9397-08002B2CF9AE}" pid="4" name="LastSaved">
    <vt:filetime>2023-05-15T00:00:00Z</vt:filetime>
  </property>
  <property fmtid="{D5CDD505-2E9C-101B-9397-08002B2CF9AE}" pid="5" name="Producer">
    <vt:lpwstr>Microsoft® PowerPoint® 2010</vt:lpwstr>
  </property>
</Properties>
</file>